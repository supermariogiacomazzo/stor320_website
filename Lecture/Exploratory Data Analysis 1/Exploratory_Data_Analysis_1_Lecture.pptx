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1.xml" ContentType="application/vnd.openxmlformats-officedocument.presentationml.comment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notesSlides/notesSlide23.xml" ContentType="application/vnd.openxmlformats-officedocument.presentationml.notesSlide+xml"/>
  <Override PartName="/ppt/tags/tag25.xml" ContentType="application/vnd.openxmlformats-officedocument.presentationml.tags+xml"/>
  <Override PartName="/ppt/notesSlides/notesSlide24.xml" ContentType="application/vnd.openxmlformats-officedocument.presentationml.notesSlide+xml"/>
  <Override PartName="/ppt/tags/tag26.xml" ContentType="application/vnd.openxmlformats-officedocument.presentationml.tags+xml"/>
  <Override PartName="/ppt/notesSlides/notesSlide25.xml" ContentType="application/vnd.openxmlformats-officedocument.presentationml.notesSlide+xml"/>
  <Override PartName="/ppt/tags/tag27.xml" ContentType="application/vnd.openxmlformats-officedocument.presentationml.tags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ppt/notesSlides/notesSlide27.xml" ContentType="application/vnd.openxmlformats-officedocument.presentationml.notesSlide+xml"/>
  <Override PartName="/ppt/tags/tag29.xml" ContentType="application/vnd.openxmlformats-officedocument.presentationml.tags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76" r:id="rId2"/>
  </p:sldMasterIdLst>
  <p:notesMasterIdLst>
    <p:notesMasterId r:id="rId31"/>
  </p:notesMasterIdLst>
  <p:handoutMasterIdLst>
    <p:handoutMasterId r:id="rId32"/>
  </p:handoutMasterIdLst>
  <p:sldIdLst>
    <p:sldId id="320" r:id="rId3"/>
    <p:sldId id="340" r:id="rId4"/>
    <p:sldId id="345" r:id="rId5"/>
    <p:sldId id="346" r:id="rId6"/>
    <p:sldId id="342" r:id="rId7"/>
    <p:sldId id="347" r:id="rId8"/>
    <p:sldId id="351" r:id="rId9"/>
    <p:sldId id="341" r:id="rId10"/>
    <p:sldId id="348" r:id="rId11"/>
    <p:sldId id="353" r:id="rId12"/>
    <p:sldId id="354" r:id="rId13"/>
    <p:sldId id="352" r:id="rId14"/>
    <p:sldId id="350" r:id="rId15"/>
    <p:sldId id="355" r:id="rId16"/>
    <p:sldId id="356" r:id="rId17"/>
    <p:sldId id="358" r:id="rId18"/>
    <p:sldId id="359" r:id="rId19"/>
    <p:sldId id="360" r:id="rId20"/>
    <p:sldId id="361" r:id="rId21"/>
    <p:sldId id="362" r:id="rId22"/>
    <p:sldId id="363" r:id="rId23"/>
    <p:sldId id="364" r:id="rId24"/>
    <p:sldId id="365" r:id="rId25"/>
    <p:sldId id="366" r:id="rId26"/>
    <p:sldId id="367" r:id="rId27"/>
    <p:sldId id="369" r:id="rId28"/>
    <p:sldId id="368" r:id="rId29"/>
    <p:sldId id="329" r:id="rId30"/>
  </p:sldIdLst>
  <p:sldSz cx="9144000" cy="6858000" type="screen4x3"/>
  <p:notesSz cx="6858000" cy="9144000"/>
  <p:custDataLst>
    <p:tags r:id="rId33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per Mario" initials="SM" lastIdx="1" clrIdx="0">
    <p:extLst>
      <p:ext uri="{19B8F6BF-5375-455C-9EA6-DF929625EA0E}">
        <p15:presenceInfo xmlns:p15="http://schemas.microsoft.com/office/powerpoint/2012/main" userId="00ac6b547670034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D5D5D5"/>
    <a:srgbClr val="0D16FF"/>
    <a:srgbClr val="3AD24F"/>
    <a:srgbClr val="13C33A"/>
    <a:srgbClr val="19FF4C"/>
    <a:srgbClr val="38FF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984" autoAdjust="0"/>
    <p:restoredTop sz="86050" autoAdjust="0"/>
  </p:normalViewPr>
  <p:slideViewPr>
    <p:cSldViewPr snapToObjects="1" showGuides="1">
      <p:cViewPr varScale="1">
        <p:scale>
          <a:sx n="110" d="100"/>
          <a:sy n="110" d="100"/>
        </p:scale>
        <p:origin x="724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 showGuides="1">
      <p:cViewPr varScale="1">
        <p:scale>
          <a:sx n="92" d="100"/>
          <a:sy n="92" d="100"/>
        </p:scale>
        <p:origin x="-2816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gs" Target="tags/tag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9-08T19:07:18.090" idx="1">
    <p:pos x="10" y="10"/>
    <p:text/>
    <p:extLst>
      <p:ext uri="{C676402C-5697-4E1C-873F-D02D1690AC5C}">
        <p15:threadingInfo xmlns:p15="http://schemas.microsoft.com/office/powerpoint/2012/main" timeZoneBias="24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E7045F-ECBD-4B6D-B8D7-DFEEDA811169}" type="doc">
      <dgm:prSet loTypeId="urn:microsoft.com/office/officeart/2005/8/layout/cycle5" loCatId="cycle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EC76C363-DB48-41CD-AF48-90CDF3520567}">
      <dgm:prSet phldrT="[Text]" phldr="0"/>
      <dgm:spPr/>
      <dgm:t>
        <a:bodyPr/>
        <a:lstStyle/>
        <a:p>
          <a:r>
            <a:rPr lang="en-US" dirty="0"/>
            <a:t>Questions</a:t>
          </a:r>
        </a:p>
        <a:p>
          <a:r>
            <a:rPr lang="en-US" dirty="0"/>
            <a:t>About Data</a:t>
          </a:r>
        </a:p>
      </dgm:t>
    </dgm:pt>
    <dgm:pt modelId="{06819629-0AA3-4986-8FE1-2FE66C187F8C}" type="parTrans" cxnId="{8F663050-3B43-4C29-9776-A68FC411F330}">
      <dgm:prSet/>
      <dgm:spPr/>
      <dgm:t>
        <a:bodyPr/>
        <a:lstStyle/>
        <a:p>
          <a:endParaRPr lang="en-US"/>
        </a:p>
      </dgm:t>
    </dgm:pt>
    <dgm:pt modelId="{906DD7A4-FDE5-476E-8A57-78B882DF3A46}" type="sibTrans" cxnId="{8F663050-3B43-4C29-9776-A68FC411F330}">
      <dgm:prSet/>
      <dgm:spPr/>
      <dgm:t>
        <a:bodyPr/>
        <a:lstStyle/>
        <a:p>
          <a:endParaRPr lang="en-US"/>
        </a:p>
      </dgm:t>
    </dgm:pt>
    <dgm:pt modelId="{662C39F2-E3FC-4DBD-83F4-D758701725C2}">
      <dgm:prSet phldrT="[Text]" phldr="0"/>
      <dgm:spPr/>
      <dgm:t>
        <a:bodyPr/>
        <a:lstStyle/>
        <a:p>
          <a:r>
            <a:rPr lang="en-US" dirty="0"/>
            <a:t>Transform</a:t>
          </a:r>
        </a:p>
        <a:p>
          <a:r>
            <a:rPr lang="en-US" dirty="0"/>
            <a:t>Clean Data</a:t>
          </a:r>
        </a:p>
      </dgm:t>
    </dgm:pt>
    <dgm:pt modelId="{8F5B88D5-14E3-46FC-A2FD-CF91E70783C1}" type="parTrans" cxnId="{0853F6D3-08AD-4C9C-8E02-BC25F313D8A6}">
      <dgm:prSet/>
      <dgm:spPr/>
      <dgm:t>
        <a:bodyPr/>
        <a:lstStyle/>
        <a:p>
          <a:endParaRPr lang="en-US"/>
        </a:p>
      </dgm:t>
    </dgm:pt>
    <dgm:pt modelId="{DE1CB45F-90D1-4A28-8EA7-0CE212FB6A77}" type="sibTrans" cxnId="{0853F6D3-08AD-4C9C-8E02-BC25F313D8A6}">
      <dgm:prSet/>
      <dgm:spPr/>
      <dgm:t>
        <a:bodyPr/>
        <a:lstStyle/>
        <a:p>
          <a:endParaRPr lang="en-US"/>
        </a:p>
      </dgm:t>
    </dgm:pt>
    <dgm:pt modelId="{324FAED0-CB5D-459A-8F31-80F80F424178}">
      <dgm:prSet phldrT="[Text]" phldr="0"/>
      <dgm:spPr/>
      <dgm:t>
        <a:bodyPr/>
        <a:lstStyle/>
        <a:p>
          <a:r>
            <a:rPr lang="en-US" dirty="0"/>
            <a:t>Summarize</a:t>
          </a:r>
        </a:p>
        <a:p>
          <a:r>
            <a:rPr lang="en-US" dirty="0"/>
            <a:t>Visualize</a:t>
          </a:r>
        </a:p>
        <a:p>
          <a:r>
            <a:rPr lang="en-US" dirty="0"/>
            <a:t>Model</a:t>
          </a:r>
        </a:p>
      </dgm:t>
    </dgm:pt>
    <dgm:pt modelId="{D21C8EA6-F095-477A-92FC-744A5A3F6701}" type="parTrans" cxnId="{13DB0F8F-E73F-4613-9939-8BBA5A9E7C27}">
      <dgm:prSet/>
      <dgm:spPr/>
      <dgm:t>
        <a:bodyPr/>
        <a:lstStyle/>
        <a:p>
          <a:endParaRPr lang="en-US"/>
        </a:p>
      </dgm:t>
    </dgm:pt>
    <dgm:pt modelId="{22372E86-33CA-4505-8BE9-804CB1E5FF16}" type="sibTrans" cxnId="{13DB0F8F-E73F-4613-9939-8BBA5A9E7C27}">
      <dgm:prSet/>
      <dgm:spPr/>
      <dgm:t>
        <a:bodyPr/>
        <a:lstStyle/>
        <a:p>
          <a:endParaRPr lang="en-US"/>
        </a:p>
      </dgm:t>
    </dgm:pt>
    <dgm:pt modelId="{8A18165C-A7C4-422A-95B7-EF1D5538FA61}" type="pres">
      <dgm:prSet presAssocID="{4BE7045F-ECBD-4B6D-B8D7-DFEEDA811169}" presName="cycle" presStyleCnt="0">
        <dgm:presLayoutVars>
          <dgm:dir/>
          <dgm:resizeHandles val="exact"/>
        </dgm:presLayoutVars>
      </dgm:prSet>
      <dgm:spPr/>
    </dgm:pt>
    <dgm:pt modelId="{B8428A25-8D74-471A-B991-7C5F67D224E0}" type="pres">
      <dgm:prSet presAssocID="{EC76C363-DB48-41CD-AF48-90CDF3520567}" presName="node" presStyleLbl="node1" presStyleIdx="0" presStyleCnt="3">
        <dgm:presLayoutVars>
          <dgm:bulletEnabled val="1"/>
        </dgm:presLayoutVars>
      </dgm:prSet>
      <dgm:spPr/>
    </dgm:pt>
    <dgm:pt modelId="{7DD95FB2-6C94-4575-B5DD-0C2FD8C2512F}" type="pres">
      <dgm:prSet presAssocID="{EC76C363-DB48-41CD-AF48-90CDF3520567}" presName="spNode" presStyleCnt="0"/>
      <dgm:spPr/>
    </dgm:pt>
    <dgm:pt modelId="{2CB2E969-8B6B-4A55-ACC3-E6F114D40E95}" type="pres">
      <dgm:prSet presAssocID="{906DD7A4-FDE5-476E-8A57-78B882DF3A46}" presName="sibTrans" presStyleLbl="sibTrans1D1" presStyleIdx="0" presStyleCnt="3"/>
      <dgm:spPr/>
    </dgm:pt>
    <dgm:pt modelId="{AF46453C-C252-4D83-A056-CDCFA8B81FB8}" type="pres">
      <dgm:prSet presAssocID="{662C39F2-E3FC-4DBD-83F4-D758701725C2}" presName="node" presStyleLbl="node1" presStyleIdx="1" presStyleCnt="3">
        <dgm:presLayoutVars>
          <dgm:bulletEnabled val="1"/>
        </dgm:presLayoutVars>
      </dgm:prSet>
      <dgm:spPr/>
    </dgm:pt>
    <dgm:pt modelId="{CAD02C1E-4189-4EEA-BF0E-8A731A537509}" type="pres">
      <dgm:prSet presAssocID="{662C39F2-E3FC-4DBD-83F4-D758701725C2}" presName="spNode" presStyleCnt="0"/>
      <dgm:spPr/>
    </dgm:pt>
    <dgm:pt modelId="{08C829C6-DC86-4DA5-A859-C72EAC6F436A}" type="pres">
      <dgm:prSet presAssocID="{DE1CB45F-90D1-4A28-8EA7-0CE212FB6A77}" presName="sibTrans" presStyleLbl="sibTrans1D1" presStyleIdx="1" presStyleCnt="3"/>
      <dgm:spPr/>
    </dgm:pt>
    <dgm:pt modelId="{C7FF944F-A826-43BB-900E-33BD158A50F9}" type="pres">
      <dgm:prSet presAssocID="{324FAED0-CB5D-459A-8F31-80F80F424178}" presName="node" presStyleLbl="node1" presStyleIdx="2" presStyleCnt="3">
        <dgm:presLayoutVars>
          <dgm:bulletEnabled val="1"/>
        </dgm:presLayoutVars>
      </dgm:prSet>
      <dgm:spPr/>
    </dgm:pt>
    <dgm:pt modelId="{31B81727-010C-45D9-8948-9B2CC411B8D3}" type="pres">
      <dgm:prSet presAssocID="{324FAED0-CB5D-459A-8F31-80F80F424178}" presName="spNode" presStyleCnt="0"/>
      <dgm:spPr/>
    </dgm:pt>
    <dgm:pt modelId="{C8142C20-1F38-4244-B04D-E9EC71FA95BC}" type="pres">
      <dgm:prSet presAssocID="{22372E86-33CA-4505-8BE9-804CB1E5FF16}" presName="sibTrans" presStyleLbl="sibTrans1D1" presStyleIdx="2" presStyleCnt="3"/>
      <dgm:spPr/>
    </dgm:pt>
  </dgm:ptLst>
  <dgm:cxnLst>
    <dgm:cxn modelId="{C28FB908-5BD6-415B-8431-8D79B6531AE6}" type="presOf" srcId="{22372E86-33CA-4505-8BE9-804CB1E5FF16}" destId="{C8142C20-1F38-4244-B04D-E9EC71FA95BC}" srcOrd="0" destOrd="0" presId="urn:microsoft.com/office/officeart/2005/8/layout/cycle5"/>
    <dgm:cxn modelId="{D0FC982A-0AF7-481E-A7F0-0A05748BE868}" type="presOf" srcId="{662C39F2-E3FC-4DBD-83F4-D758701725C2}" destId="{AF46453C-C252-4D83-A056-CDCFA8B81FB8}" srcOrd="0" destOrd="0" presId="urn:microsoft.com/office/officeart/2005/8/layout/cycle5"/>
    <dgm:cxn modelId="{8F663050-3B43-4C29-9776-A68FC411F330}" srcId="{4BE7045F-ECBD-4B6D-B8D7-DFEEDA811169}" destId="{EC76C363-DB48-41CD-AF48-90CDF3520567}" srcOrd="0" destOrd="0" parTransId="{06819629-0AA3-4986-8FE1-2FE66C187F8C}" sibTransId="{906DD7A4-FDE5-476E-8A57-78B882DF3A46}"/>
    <dgm:cxn modelId="{16B8CD7A-BCB6-4864-9C78-C5A97359FEA1}" type="presOf" srcId="{DE1CB45F-90D1-4A28-8EA7-0CE212FB6A77}" destId="{08C829C6-DC86-4DA5-A859-C72EAC6F436A}" srcOrd="0" destOrd="0" presId="urn:microsoft.com/office/officeart/2005/8/layout/cycle5"/>
    <dgm:cxn modelId="{1ACC7386-A685-4F20-8C34-C69F527F8DFA}" type="presOf" srcId="{906DD7A4-FDE5-476E-8A57-78B882DF3A46}" destId="{2CB2E969-8B6B-4A55-ACC3-E6F114D40E95}" srcOrd="0" destOrd="0" presId="urn:microsoft.com/office/officeart/2005/8/layout/cycle5"/>
    <dgm:cxn modelId="{13DB0F8F-E73F-4613-9939-8BBA5A9E7C27}" srcId="{4BE7045F-ECBD-4B6D-B8D7-DFEEDA811169}" destId="{324FAED0-CB5D-459A-8F31-80F80F424178}" srcOrd="2" destOrd="0" parTransId="{D21C8EA6-F095-477A-92FC-744A5A3F6701}" sibTransId="{22372E86-33CA-4505-8BE9-804CB1E5FF16}"/>
    <dgm:cxn modelId="{DEE588A8-1FB1-4330-9D72-FBCDC2E471F1}" type="presOf" srcId="{324FAED0-CB5D-459A-8F31-80F80F424178}" destId="{C7FF944F-A826-43BB-900E-33BD158A50F9}" srcOrd="0" destOrd="0" presId="urn:microsoft.com/office/officeart/2005/8/layout/cycle5"/>
    <dgm:cxn modelId="{390437BD-A446-4E04-B8D6-075D44FF83BA}" type="presOf" srcId="{4BE7045F-ECBD-4B6D-B8D7-DFEEDA811169}" destId="{8A18165C-A7C4-422A-95B7-EF1D5538FA61}" srcOrd="0" destOrd="0" presId="urn:microsoft.com/office/officeart/2005/8/layout/cycle5"/>
    <dgm:cxn modelId="{0853F6D3-08AD-4C9C-8E02-BC25F313D8A6}" srcId="{4BE7045F-ECBD-4B6D-B8D7-DFEEDA811169}" destId="{662C39F2-E3FC-4DBD-83F4-D758701725C2}" srcOrd="1" destOrd="0" parTransId="{8F5B88D5-14E3-46FC-A2FD-CF91E70783C1}" sibTransId="{DE1CB45F-90D1-4A28-8EA7-0CE212FB6A77}"/>
    <dgm:cxn modelId="{407F1EFB-7A99-44B9-A1E6-32CD7EE16829}" type="presOf" srcId="{EC76C363-DB48-41CD-AF48-90CDF3520567}" destId="{B8428A25-8D74-471A-B991-7C5F67D224E0}" srcOrd="0" destOrd="0" presId="urn:microsoft.com/office/officeart/2005/8/layout/cycle5"/>
    <dgm:cxn modelId="{AC1C95F0-8219-4EBD-91E8-FFF8AF08EEA7}" type="presParOf" srcId="{8A18165C-A7C4-422A-95B7-EF1D5538FA61}" destId="{B8428A25-8D74-471A-B991-7C5F67D224E0}" srcOrd="0" destOrd="0" presId="urn:microsoft.com/office/officeart/2005/8/layout/cycle5"/>
    <dgm:cxn modelId="{044259B0-0AF0-4DEF-B7EE-900C2544ED05}" type="presParOf" srcId="{8A18165C-A7C4-422A-95B7-EF1D5538FA61}" destId="{7DD95FB2-6C94-4575-B5DD-0C2FD8C2512F}" srcOrd="1" destOrd="0" presId="urn:microsoft.com/office/officeart/2005/8/layout/cycle5"/>
    <dgm:cxn modelId="{4DA3CB14-E14F-4774-9A83-4E3894D44705}" type="presParOf" srcId="{8A18165C-A7C4-422A-95B7-EF1D5538FA61}" destId="{2CB2E969-8B6B-4A55-ACC3-E6F114D40E95}" srcOrd="2" destOrd="0" presId="urn:microsoft.com/office/officeart/2005/8/layout/cycle5"/>
    <dgm:cxn modelId="{858D8B1E-CCE8-438D-A6D9-5AAAC7C7FB86}" type="presParOf" srcId="{8A18165C-A7C4-422A-95B7-EF1D5538FA61}" destId="{AF46453C-C252-4D83-A056-CDCFA8B81FB8}" srcOrd="3" destOrd="0" presId="urn:microsoft.com/office/officeart/2005/8/layout/cycle5"/>
    <dgm:cxn modelId="{82F61B58-9DDC-4828-ADC0-5D4941FE3BD1}" type="presParOf" srcId="{8A18165C-A7C4-422A-95B7-EF1D5538FA61}" destId="{CAD02C1E-4189-4EEA-BF0E-8A731A537509}" srcOrd="4" destOrd="0" presId="urn:microsoft.com/office/officeart/2005/8/layout/cycle5"/>
    <dgm:cxn modelId="{8E25A806-A97D-4F90-B63E-AA6ED42F6C63}" type="presParOf" srcId="{8A18165C-A7C4-422A-95B7-EF1D5538FA61}" destId="{08C829C6-DC86-4DA5-A859-C72EAC6F436A}" srcOrd="5" destOrd="0" presId="urn:microsoft.com/office/officeart/2005/8/layout/cycle5"/>
    <dgm:cxn modelId="{A339E0C1-C7E6-4D00-821B-A0129FD04E64}" type="presParOf" srcId="{8A18165C-A7C4-422A-95B7-EF1D5538FA61}" destId="{C7FF944F-A826-43BB-900E-33BD158A50F9}" srcOrd="6" destOrd="0" presId="urn:microsoft.com/office/officeart/2005/8/layout/cycle5"/>
    <dgm:cxn modelId="{6AE3DF52-0E2A-491D-B214-8743D24A2A49}" type="presParOf" srcId="{8A18165C-A7C4-422A-95B7-EF1D5538FA61}" destId="{31B81727-010C-45D9-8948-9B2CC411B8D3}" srcOrd="7" destOrd="0" presId="urn:microsoft.com/office/officeart/2005/8/layout/cycle5"/>
    <dgm:cxn modelId="{EF3568E3-6011-4CA3-A670-CEFD7AEEBB34}" type="presParOf" srcId="{8A18165C-A7C4-422A-95B7-EF1D5538FA61}" destId="{C8142C20-1F38-4244-B04D-E9EC71FA95BC}" srcOrd="8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428A25-8D74-471A-B991-7C5F67D224E0}">
      <dsp:nvSpPr>
        <dsp:cNvPr id="0" name=""/>
        <dsp:cNvSpPr/>
      </dsp:nvSpPr>
      <dsp:spPr>
        <a:xfrm>
          <a:off x="1809749" y="751"/>
          <a:ext cx="1257299" cy="81724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Questions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About Data</a:t>
          </a:r>
        </a:p>
      </dsp:txBody>
      <dsp:txXfrm>
        <a:off x="1849644" y="40646"/>
        <a:ext cx="1177509" cy="737454"/>
      </dsp:txXfrm>
    </dsp:sp>
    <dsp:sp modelId="{2CB2E969-8B6B-4A55-ACC3-E6F114D40E95}">
      <dsp:nvSpPr>
        <dsp:cNvPr id="0" name=""/>
        <dsp:cNvSpPr/>
      </dsp:nvSpPr>
      <dsp:spPr>
        <a:xfrm>
          <a:off x="1347300" y="409373"/>
          <a:ext cx="2182199" cy="2182199"/>
        </a:xfrm>
        <a:custGeom>
          <a:avLst/>
          <a:gdLst/>
          <a:ahLst/>
          <a:cxnLst/>
          <a:rect l="0" t="0" r="0" b="0"/>
          <a:pathLst>
            <a:path>
              <a:moveTo>
                <a:pt x="1888945" y="346827"/>
              </a:moveTo>
              <a:arcTo wR="1091099" hR="1091099" stAng="19019381" swAng="2304659"/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46453C-C252-4D83-A056-CDCFA8B81FB8}">
      <dsp:nvSpPr>
        <dsp:cNvPr id="0" name=""/>
        <dsp:cNvSpPr/>
      </dsp:nvSpPr>
      <dsp:spPr>
        <a:xfrm>
          <a:off x="2754670" y="1637400"/>
          <a:ext cx="1257299" cy="81724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Transform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Clean Data</a:t>
          </a:r>
        </a:p>
      </dsp:txBody>
      <dsp:txXfrm>
        <a:off x="2794565" y="1677295"/>
        <a:ext cx="1177509" cy="737454"/>
      </dsp:txXfrm>
    </dsp:sp>
    <dsp:sp modelId="{08C829C6-DC86-4DA5-A859-C72EAC6F436A}">
      <dsp:nvSpPr>
        <dsp:cNvPr id="0" name=""/>
        <dsp:cNvSpPr/>
      </dsp:nvSpPr>
      <dsp:spPr>
        <a:xfrm>
          <a:off x="1347300" y="409373"/>
          <a:ext cx="2182199" cy="2182199"/>
        </a:xfrm>
        <a:custGeom>
          <a:avLst/>
          <a:gdLst/>
          <a:ahLst/>
          <a:cxnLst/>
          <a:rect l="0" t="0" r="0" b="0"/>
          <a:pathLst>
            <a:path>
              <a:moveTo>
                <a:pt x="1426416" y="2129397"/>
              </a:moveTo>
              <a:arcTo wR="1091099" hR="1091099" stAng="4326133" swAng="2147733"/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FF944F-A826-43BB-900E-33BD158A50F9}">
      <dsp:nvSpPr>
        <dsp:cNvPr id="0" name=""/>
        <dsp:cNvSpPr/>
      </dsp:nvSpPr>
      <dsp:spPr>
        <a:xfrm>
          <a:off x="864829" y="1637400"/>
          <a:ext cx="1257299" cy="81724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Summarize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Visualize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Model</a:t>
          </a:r>
        </a:p>
      </dsp:txBody>
      <dsp:txXfrm>
        <a:off x="904724" y="1677295"/>
        <a:ext cx="1177509" cy="737454"/>
      </dsp:txXfrm>
    </dsp:sp>
    <dsp:sp modelId="{C8142C20-1F38-4244-B04D-E9EC71FA95BC}">
      <dsp:nvSpPr>
        <dsp:cNvPr id="0" name=""/>
        <dsp:cNvSpPr/>
      </dsp:nvSpPr>
      <dsp:spPr>
        <a:xfrm>
          <a:off x="1347300" y="409373"/>
          <a:ext cx="2182199" cy="2182199"/>
        </a:xfrm>
        <a:custGeom>
          <a:avLst/>
          <a:gdLst/>
          <a:ahLst/>
          <a:cxnLst/>
          <a:rect l="0" t="0" r="0" b="0"/>
          <a:pathLst>
            <a:path>
              <a:moveTo>
                <a:pt x="3513" y="1003607"/>
              </a:moveTo>
              <a:arcTo wR="1091099" hR="1091099" stAng="11075959" swAng="2304659"/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>
                <a:latin typeface="Arial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fld id="{4DC0810E-0BCD-E64E-A6C5-A30C40CB909A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>
                <a:latin typeface="Arial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fld id="{6C513ED8-42D2-F348-B32E-1E08EBA3202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1247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C7809FE7-6137-DD41-9F63-40D3C06ED648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AE6B6CE-84D6-AA47-BFFB-BF474964ABC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5481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9" charset="-128"/>
        <a:cs typeface="ＭＳ Ｐゴシック" pitchFamily="-109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9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9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9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9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421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914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948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579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2942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641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513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066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491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3122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9637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2915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5579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6429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3010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5378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2493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8016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0644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4041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4625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3501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2100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3426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8719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665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7453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E6B6CE-84D6-AA47-BFFB-BF474964ABC4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382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13CC5-C68A-D74B-A47D-B9037181BEC9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Section 5.1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8F3E4-3DB0-5047-AB48-1D5F1631E4A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73E592-D73B-7343-8A1E-FE6AD8BEBEE8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Section 5.1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4AB429-E672-2348-96E1-F99DED5A2DD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8C52B-75DB-C845-98D6-1D91F0432241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Section 5.1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90C78-774D-A448-9CD6-E87CE01FB94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265769-1047-F043-A732-F76CF8702E52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Section 5.1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45253-104A-8C42-841C-FEBF47550EC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61D10B-9681-184A-B930-F7E726872DAB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Section 5.1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02C4B7-EC72-474E-B2D2-30F256FED91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61159-0D6B-5A45-8904-F5BB575CC3A6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Section 5.1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DE3E5-C929-4D45-84A9-22CC1D7D96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FED8E9-45AB-6C47-BE07-8DD95E4C162D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Section 5.1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16BF1F-8134-114A-AE10-A0DFD47C609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E0C417-6796-A846-AC3F-1F2D307BA97F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Section 5.1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2F53C2-729B-8A45-A995-71DD2B6299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04199-E0BB-4842-9AE2-F11D6338C987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Section 5.1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612F95-C4ED-2040-B605-125F58CAFD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180481-5049-3348-8BDE-6ED73D1FFD05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Section 5.1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C3CAE-C8EC-A34C-8BA7-45B57A12C45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0CAD31-5B17-5C45-A5AD-4FD14EF5A831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Section 5.1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67433E-4536-374D-BC3B-87E876FD31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A3718B-777D-3D49-8591-E15752B30C9B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3.2 Sampling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4CA1D4-DED4-C24E-9239-0981CC259A3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1F0E25-14E9-3041-AABD-4AD753BE9819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3.2 Sampling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38FFF4-9554-9D4C-8544-C56B1E15F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BD78A4-1BF3-644A-BCC9-870456753CB0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3.2 Sampling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CF8573-3A94-C640-82E3-0A68A10CBA5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1A90D8-37E1-7D4F-A913-5D684E3B2203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3.2 Sampling design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FC1F8E-7437-2D45-AB94-BC4774DE8AF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88A71A-9C18-204E-89B3-A2A7BEF27092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3.2 Sampling design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2A8E0A-5268-7945-96F0-10C72FB475C9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E34264-80C5-2347-94EB-D08868091D86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3.2 Sampling design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C124C-9E6E-A840-A398-0EBF678BE6E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35D21C-76EC-3143-A0E3-D217595E645D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3.2 Sampling design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6462B1-5E98-5B41-AF3E-183D007741A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094C69-3431-3744-B9F0-0C18A34C4930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3.2 Sampling design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BAECD-5DE2-814C-96EC-6CBF8A704F1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33788-D06F-A240-B2CE-598172C68CF4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3.2 Sampling design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5AE33F-BFCA-0D4F-9457-B619F7E8E59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0E7D3-3157-F44B-B819-FC74C0E64B29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3.2 Sampling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D0ECE4-9006-1A48-9695-EE9577348BA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0ADC43-0A38-3B40-BED0-7931431BE312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3.2 Sampling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8800A6-94C8-E842-9F03-F7B8ED0EE54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5681E2-C982-6049-A6B0-EBCB7C8A415D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3.2 Sampling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6F3244-B020-D740-BDC0-1920EF2D9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1843ABE-1594-B94D-B6C2-914F442E898B}" type="datetime1">
              <a:rPr lang="en-US" smtClean="0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r>
              <a:rPr lang="en-US" dirty="0"/>
              <a:t>Section 5.1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A16E443-7C6A-2743-BE4A-D83FE49486E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sldNum="0"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09" charset="-128"/>
          <a:cs typeface="ＭＳ Ｐゴシック" pitchFamily="-109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09" charset="-128"/>
          <a:cs typeface="ＭＳ Ｐゴシック" pitchFamily="-109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845681E2-C982-6049-A6B0-EBCB7C8A415D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08" charset="0"/>
              </a:defRPr>
            </a:lvl1pPr>
          </a:lstStyle>
          <a:p>
            <a:r>
              <a:rPr lang="en-US" dirty="0">
                <a:ea typeface="ＭＳ Ｐゴシック" pitchFamily="-108" charset="-128"/>
              </a:rPr>
              <a:t>3.2 Sampling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C6F3244-B020-D740-BDC0-1920EF2D9A8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09" charset="-128"/>
          <a:cs typeface="ＭＳ Ｐゴシック" pitchFamily="-109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-108" charset="0"/>
        <a:buChar char="•"/>
        <a:defRPr sz="3200" kern="1200">
          <a:solidFill>
            <a:schemeClr val="tx1"/>
          </a:solidFill>
          <a:latin typeface="+mn-lt"/>
          <a:ea typeface="ＭＳ Ｐゴシック" pitchFamily="-109" charset="-128"/>
          <a:cs typeface="ＭＳ Ｐゴシック" pitchFamily="-109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-108" charset="0"/>
        <a:buChar char="–"/>
        <a:defRPr sz="2800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-108" charset="0"/>
        <a:buChar char="•"/>
        <a:defRPr sz="2400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-108" charset="0"/>
        <a:buChar char="–"/>
        <a:defRPr sz="2000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-108" charset="0"/>
        <a:buChar char="»"/>
        <a:defRPr sz="2000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2.xml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notesSlide" Target="../notesSlides/notesSlide2.xml"/><Relationship Id="rId7" Type="http://schemas.openxmlformats.org/officeDocument/2006/relationships/diagramQuickStyle" Target="../diagrams/quickStyl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comments" Target="../comments/comment1.xml"/><Relationship Id="rId4" Type="http://schemas.openxmlformats.org/officeDocument/2006/relationships/image" Target="../media/image1.jp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5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image" Target="../media/image11.png"/><Relationship Id="rId4" Type="http://schemas.openxmlformats.org/officeDocument/2006/relationships/image" Target="../media/image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5" Type="http://schemas.openxmlformats.org/officeDocument/2006/relationships/image" Target="../media/image12.png"/><Relationship Id="rId4" Type="http://schemas.openxmlformats.org/officeDocument/2006/relationships/image" Target="../media/image1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5" Type="http://schemas.openxmlformats.org/officeDocument/2006/relationships/image" Target="../media/image15.png"/><Relationship Id="rId4" Type="http://schemas.openxmlformats.org/officeDocument/2006/relationships/image" Target="../media/image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5" Type="http://schemas.openxmlformats.org/officeDocument/2006/relationships/image" Target="../media/image16.png"/><Relationship Id="rId4" Type="http://schemas.openxmlformats.org/officeDocument/2006/relationships/image" Target="../media/image1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6" Type="http://schemas.openxmlformats.org/officeDocument/2006/relationships/image" Target="../media/image21.png"/><Relationship Id="rId5" Type="http://schemas.openxmlformats.org/officeDocument/2006/relationships/image" Target="../media/image19.png"/><Relationship Id="rId4" Type="http://schemas.openxmlformats.org/officeDocument/2006/relationships/image" Target="../media/image1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5" Type="http://schemas.openxmlformats.org/officeDocument/2006/relationships/image" Target="../media/image23.png"/><Relationship Id="rId4" Type="http://schemas.openxmlformats.org/officeDocument/2006/relationships/image" Target="../media/image1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5" Type="http://schemas.openxmlformats.org/officeDocument/2006/relationships/image" Target="../media/image24.png"/><Relationship Id="rId4" Type="http://schemas.openxmlformats.org/officeDocument/2006/relationships/image" Target="../media/image1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5" Type="http://schemas.openxmlformats.org/officeDocument/2006/relationships/image" Target="../media/image25.png"/><Relationship Id="rId4" Type="http://schemas.openxmlformats.org/officeDocument/2006/relationships/image" Target="../media/image1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5" Type="http://schemas.openxmlformats.org/officeDocument/2006/relationships/image" Target="../media/image26.png"/><Relationship Id="rId4" Type="http://schemas.openxmlformats.org/officeDocument/2006/relationships/image" Target="../media/image1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5" Type="http://schemas.openxmlformats.org/officeDocument/2006/relationships/image" Target="../media/image27.png"/><Relationship Id="rId4" Type="http://schemas.openxmlformats.org/officeDocument/2006/relationships/image" Target="../media/image1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6894" y="3200400"/>
            <a:ext cx="5334000" cy="162507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6000" i="1" dirty="0">
                <a:ea typeface="+mj-ea"/>
                <a:cs typeface="+mj-cs"/>
              </a:rPr>
              <a:t>Exploratory </a:t>
            </a:r>
            <a:br>
              <a:rPr lang="en-US" sz="6000" i="1" dirty="0">
                <a:ea typeface="+mj-ea"/>
                <a:cs typeface="+mj-cs"/>
              </a:rPr>
            </a:br>
            <a:r>
              <a:rPr lang="en-US" sz="6000" i="1" dirty="0">
                <a:ea typeface="+mj-ea"/>
                <a:cs typeface="+mj-cs"/>
              </a:rPr>
              <a:t>Data Analysis I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629586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A72BE4-3B90-4DF9-9AF7-43E0A7B66E2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360" r="17759"/>
          <a:stretch/>
        </p:blipFill>
        <p:spPr>
          <a:xfrm>
            <a:off x="20" y="10"/>
            <a:ext cx="4518095" cy="685799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custDataLst>
      <p:tags r:id="rId1"/>
    </p:custData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109A012-7651-4985-AA1B-FD88922E9EE4}"/>
              </a:ext>
            </a:extLst>
          </p:cNvPr>
          <p:cNvSpPr txBox="1"/>
          <p:nvPr/>
        </p:nvSpPr>
        <p:spPr>
          <a:xfrm>
            <a:off x="4129278" y="548634"/>
            <a:ext cx="4953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Tenderly Read Chapter 5</a:t>
            </a:r>
          </a:p>
          <a:p>
            <a:pPr marR="0" lvl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Know the Process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R="0" lvl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  <a:p>
            <a:pPr marR="0" lvl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R="0" lvl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Respect the Process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EDA Defined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70DD5F-80AF-47A6-9622-DF0880C2AE63}"/>
              </a:ext>
            </a:extLst>
          </p:cNvPr>
          <p:cNvSpPr txBox="1"/>
          <p:nvPr/>
        </p:nvSpPr>
        <p:spPr>
          <a:xfrm>
            <a:off x="3810000" y="643467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28729A-F29C-423D-B49F-097B379344C5}"/>
              </a:ext>
            </a:extLst>
          </p:cNvPr>
          <p:cNvSpPr txBox="1"/>
          <p:nvPr/>
        </p:nvSpPr>
        <p:spPr>
          <a:xfrm>
            <a:off x="4129278" y="548634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9A704E5-872A-8EE8-471D-F4707916A3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01163"/>
              </p:ext>
            </p:extLst>
          </p:nvPr>
        </p:nvGraphicFramePr>
        <p:xfrm>
          <a:off x="3782018" y="2286000"/>
          <a:ext cx="4876800" cy="274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85B3673-8C18-DD2B-86B9-7C19BA17BB44}"/>
              </a:ext>
            </a:extLst>
          </p:cNvPr>
          <p:cNvSpPr txBox="1"/>
          <p:nvPr/>
        </p:nvSpPr>
        <p:spPr>
          <a:xfrm>
            <a:off x="4724400" y="3017134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404040"/>
                </a:solidFill>
              </a:rPr>
              <a:t>Refine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741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70DD5F-80AF-47A6-9622-DF0880C2AE63}"/>
              </a:ext>
            </a:extLst>
          </p:cNvPr>
          <p:cNvSpPr txBox="1"/>
          <p:nvPr/>
        </p:nvSpPr>
        <p:spPr>
          <a:xfrm>
            <a:off x="3810000" y="643467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28729A-F29C-423D-B49F-097B379344C5}"/>
              </a:ext>
            </a:extLst>
          </p:cNvPr>
          <p:cNvSpPr txBox="1"/>
          <p:nvPr/>
        </p:nvSpPr>
        <p:spPr>
          <a:xfrm>
            <a:off x="4129278" y="548634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09A012-7651-4985-AA1B-FD88922E9EE4}"/>
              </a:ext>
            </a:extLst>
          </p:cNvPr>
          <p:cNvSpPr txBox="1"/>
          <p:nvPr/>
        </p:nvSpPr>
        <p:spPr>
          <a:xfrm>
            <a:off x="4129278" y="548634"/>
            <a:ext cx="4953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Example: Wages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“</a:t>
            </a:r>
            <a:r>
              <a:rPr lang="en-US" dirty="0" err="1">
                <a:solidFill>
                  <a:srgbClr val="404040"/>
                </a:solidFill>
              </a:rPr>
              <a:t>Ecdat</a:t>
            </a:r>
            <a:r>
              <a:rPr lang="en-US" dirty="0">
                <a:solidFill>
                  <a:srgbClr val="404040"/>
                </a:solidFill>
              </a:rPr>
              <a:t>” R Package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Sample from 1987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3,294 Workers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48% Female</a:t>
            </a:r>
          </a:p>
          <a:p>
            <a:pPr lvl="1"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Variables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Experience (Yrs.)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Sex (M or F)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School (Yrs.)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Wage (Hourly in $)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40404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2110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70DD5F-80AF-47A6-9622-DF0880C2AE63}"/>
              </a:ext>
            </a:extLst>
          </p:cNvPr>
          <p:cNvSpPr txBox="1"/>
          <p:nvPr/>
        </p:nvSpPr>
        <p:spPr>
          <a:xfrm>
            <a:off x="3810000" y="643467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28729A-F29C-423D-B49F-097B379344C5}"/>
              </a:ext>
            </a:extLst>
          </p:cNvPr>
          <p:cNvSpPr txBox="1"/>
          <p:nvPr/>
        </p:nvSpPr>
        <p:spPr>
          <a:xfrm>
            <a:off x="4129278" y="548634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ADE69B-DD87-4636-9DC0-B5F75C25EB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2316" y="2521036"/>
            <a:ext cx="5399662" cy="3294709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813CDE-0C4D-4591-AEF8-3A0AD8614D77}"/>
              </a:ext>
            </a:extLst>
          </p:cNvPr>
          <p:cNvSpPr txBox="1"/>
          <p:nvPr/>
        </p:nvSpPr>
        <p:spPr>
          <a:xfrm>
            <a:off x="4638403" y="6096000"/>
            <a:ext cx="4383575" cy="584775"/>
          </a:xfrm>
          <a:prstGeom prst="rect">
            <a:avLst/>
          </a:prstGeom>
          <a:solidFill>
            <a:srgbClr val="404040"/>
          </a:solidFill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bg1"/>
                </a:solidFill>
              </a:rPr>
              <a:t>Verbeek, </a:t>
            </a:r>
            <a:r>
              <a:rPr lang="en-US" sz="1600" i="1" dirty="0" err="1">
                <a:solidFill>
                  <a:schemeClr val="bg1"/>
                </a:solidFill>
              </a:rPr>
              <a:t>Marno</a:t>
            </a:r>
            <a:r>
              <a:rPr lang="en-US" sz="1600" i="1" dirty="0">
                <a:solidFill>
                  <a:schemeClr val="bg1"/>
                </a:solidFill>
              </a:rPr>
              <a:t> (2004) A Guide to Modern Econometrics, John Wiley and Sons.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1AEEBC-A567-4D0A-B989-E9687BE71A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2316" y="971737"/>
            <a:ext cx="5399662" cy="1269045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2206784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Question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70DD5F-80AF-47A6-9622-DF0880C2AE63}"/>
              </a:ext>
            </a:extLst>
          </p:cNvPr>
          <p:cNvSpPr txBox="1"/>
          <p:nvPr/>
        </p:nvSpPr>
        <p:spPr>
          <a:xfrm>
            <a:off x="3810000" y="643467"/>
            <a:ext cx="5181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Think Creatively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Quantity and Quality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General:</a:t>
            </a:r>
          </a:p>
          <a:p>
            <a:pPr marR="0" lvl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What type of variation occurs </a:t>
            </a:r>
            <a:r>
              <a:rPr lang="en-US" b="1" dirty="0">
                <a:solidFill>
                  <a:srgbClr val="404040"/>
                </a:solidFill>
              </a:rPr>
              <a:t>within</a:t>
            </a:r>
            <a:r>
              <a:rPr lang="en-US" dirty="0">
                <a:solidFill>
                  <a:srgbClr val="404040"/>
                </a:solidFill>
              </a:rPr>
              <a:t> my variables?</a:t>
            </a:r>
          </a:p>
          <a:p>
            <a:pPr lvl="1"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What type of covariation occurs </a:t>
            </a:r>
            <a:r>
              <a:rPr lang="en-US" b="1" dirty="0">
                <a:solidFill>
                  <a:srgbClr val="404040"/>
                </a:solidFill>
              </a:rPr>
              <a:t>between</a:t>
            </a:r>
            <a:r>
              <a:rPr lang="en-US" dirty="0">
                <a:solidFill>
                  <a:srgbClr val="404040"/>
                </a:solidFill>
              </a:rPr>
              <a:t> my variables?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8091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Question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70DD5F-80AF-47A6-9622-DF0880C2AE63}"/>
              </a:ext>
            </a:extLst>
          </p:cNvPr>
          <p:cNvSpPr txBox="1"/>
          <p:nvPr/>
        </p:nvSpPr>
        <p:spPr>
          <a:xfrm>
            <a:off x="3810000" y="643467"/>
            <a:ext cx="5181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Variation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Variable = Quantity,</a:t>
            </a:r>
            <a:r>
              <a:rPr lang="en-US" dirty="0">
                <a:solidFill>
                  <a:srgbClr val="404040"/>
                </a:solidFill>
              </a:rPr>
              <a:t> Quality, or Property You Can Measure</a:t>
            </a:r>
          </a:p>
          <a:p>
            <a:pPr lvl="1"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Reason: Values Tend to “Vary”</a:t>
            </a:r>
          </a:p>
          <a:p>
            <a:pPr lvl="1"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Example: Random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Categorical: </a:t>
            </a:r>
          </a:p>
          <a:p>
            <a:pPr marL="1714500" lvl="3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Eye Color</a:t>
            </a:r>
          </a:p>
          <a:p>
            <a:pPr marL="1714500" lvl="3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Occupation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Numerical: </a:t>
            </a:r>
          </a:p>
          <a:p>
            <a:pPr marL="1714500" lvl="3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Salary</a:t>
            </a:r>
          </a:p>
          <a:p>
            <a:pPr marL="1714500" lvl="3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Hair Count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  <a:p>
            <a:pPr lvl="3">
              <a:defRPr/>
            </a:pPr>
            <a:endParaRPr lang="en-US" dirty="0">
              <a:solidFill>
                <a:srgbClr val="40404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5394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Question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70DD5F-80AF-47A6-9622-DF0880C2AE63}"/>
              </a:ext>
            </a:extLst>
          </p:cNvPr>
          <p:cNvSpPr txBox="1"/>
          <p:nvPr/>
        </p:nvSpPr>
        <p:spPr>
          <a:xfrm>
            <a:off x="3810000" y="533400"/>
            <a:ext cx="5257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Initial Questions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Example: Random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Which Eye Color Occurs Most Often?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Are Salaries Skewed?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Where is the Middle 50% of the Sample in Regards to Hair Count?</a:t>
            </a:r>
          </a:p>
          <a:p>
            <a:pPr lvl="2"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Example: Wages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What did the Workforce Look Like in Terms of Sex?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How Spread Out Were Wages in 1987?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3894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Visualize</a:t>
            </a:r>
            <a:b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</a:b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Summarize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70DD5F-80AF-47A6-9622-DF0880C2AE63}"/>
              </a:ext>
            </a:extLst>
          </p:cNvPr>
          <p:cNvSpPr txBox="1"/>
          <p:nvPr/>
        </p:nvSpPr>
        <p:spPr>
          <a:xfrm>
            <a:off x="3810000" y="643467"/>
            <a:ext cx="4953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Variation Visualized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Example: Wages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Categorical: Sex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402F20-C367-4A32-A85E-50E6D9CECA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450" y="2515163"/>
            <a:ext cx="2343150" cy="922304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1AD17F-1955-4D1B-9E42-11BAF8394A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0450" y="3581400"/>
            <a:ext cx="5427093" cy="3150474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148025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Visualize Summarize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70DD5F-80AF-47A6-9622-DF0880C2AE63}"/>
              </a:ext>
            </a:extLst>
          </p:cNvPr>
          <p:cNvSpPr txBox="1"/>
          <p:nvPr/>
        </p:nvSpPr>
        <p:spPr>
          <a:xfrm>
            <a:off x="3810000" y="643467"/>
            <a:ext cx="4953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Variation Visualized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Example: Wages 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Numerical: Hourly Wage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685576-8EEA-4C57-B373-3045486805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9093" y="2667000"/>
            <a:ext cx="5441774" cy="621917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A0C0E56-BAEF-425B-9667-1005F8C8C6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9094" y="3428999"/>
            <a:ext cx="5441773" cy="3342709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1354880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Unusual Values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70DD5F-80AF-47A6-9622-DF0880C2AE63}"/>
              </a:ext>
            </a:extLst>
          </p:cNvPr>
          <p:cNvSpPr txBox="1"/>
          <p:nvPr/>
        </p:nvSpPr>
        <p:spPr>
          <a:xfrm>
            <a:off x="3810000" y="520892"/>
            <a:ext cx="4953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Outliers = Observations Outside the Pattern of the Data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Due to Error         Remove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 Don’t Drop or Change Without Justification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Sensitivity Analysis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Handling: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Drop Entire Row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Replace Instance with NA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Problems: 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Book: Visualization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Other: Inference</a:t>
            </a:r>
            <a:endParaRPr lang="en-US" dirty="0">
              <a:solidFill>
                <a:srgbClr val="404040"/>
              </a:solidFill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5766EE1-F4B8-451C-8FF5-3314DBAB8EF7}"/>
              </a:ext>
            </a:extLst>
          </p:cNvPr>
          <p:cNvSpPr/>
          <p:nvPr/>
        </p:nvSpPr>
        <p:spPr>
          <a:xfrm>
            <a:off x="6050660" y="1701800"/>
            <a:ext cx="471680" cy="304800"/>
          </a:xfrm>
          <a:prstGeom prst="rightArrow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8268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Unusual Values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70DD5F-80AF-47A6-9622-DF0880C2AE63}"/>
              </a:ext>
            </a:extLst>
          </p:cNvPr>
          <p:cNvSpPr txBox="1"/>
          <p:nvPr/>
        </p:nvSpPr>
        <p:spPr>
          <a:xfrm>
            <a:off x="3810000" y="643467"/>
            <a:ext cx="4953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Example: Wages</a:t>
            </a:r>
          </a:p>
          <a:p>
            <a:pPr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Few People Above 30 $/</a:t>
            </a:r>
            <a:r>
              <a:rPr lang="en-US" dirty="0" err="1">
                <a:solidFill>
                  <a:srgbClr val="404040"/>
                </a:solidFill>
              </a:rPr>
              <a:t>Hr</a:t>
            </a:r>
            <a:endParaRPr lang="en-US" dirty="0">
              <a:solidFill>
                <a:srgbClr val="404040"/>
              </a:solidFill>
            </a:endParaRPr>
          </a:p>
          <a:p>
            <a:pPr lvl="1"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Drop Entire Row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404040"/>
              </a:solidFill>
            </a:endParaRPr>
          </a:p>
          <a:p>
            <a:pPr lvl="1">
              <a:defRPr/>
            </a:pPr>
            <a:r>
              <a:rPr lang="en-US" dirty="0">
                <a:solidFill>
                  <a:srgbClr val="404040"/>
                </a:solidFill>
              </a:rPr>
              <a:t>	</a:t>
            </a:r>
          </a:p>
          <a:p>
            <a:pPr lvl="1">
              <a:defRPr/>
            </a:pPr>
            <a:r>
              <a:rPr lang="en-US" dirty="0">
                <a:solidFill>
                  <a:srgbClr val="404040"/>
                </a:solidFill>
              </a:rPr>
              <a:t>	Observations: 3294      3291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Replace Instance with NA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404040"/>
              </a:solidFill>
            </a:endParaRPr>
          </a:p>
          <a:p>
            <a:pPr lvl="2">
              <a:defRPr/>
            </a:pPr>
            <a:r>
              <a:rPr lang="en-US" dirty="0">
                <a:solidFill>
                  <a:srgbClr val="404040"/>
                </a:solidFill>
              </a:rPr>
              <a:t>Observations: 3294      3294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6E6506-FBA6-40AB-8C97-F5090E1A20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0205" y="2627515"/>
            <a:ext cx="5132589" cy="750685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10E04ABC-9088-4BEA-BE9C-3F70835C09A0}"/>
              </a:ext>
            </a:extLst>
          </p:cNvPr>
          <p:cNvSpPr/>
          <p:nvPr/>
        </p:nvSpPr>
        <p:spPr>
          <a:xfrm>
            <a:off x="7543800" y="3649472"/>
            <a:ext cx="335660" cy="304800"/>
          </a:xfrm>
          <a:prstGeom prst="rightArrow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1EE67B-ABDB-4054-B61D-9D40C725E0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0205" y="4835144"/>
            <a:ext cx="5132588" cy="733227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7706E355-3AE5-4B74-BCED-F8F732303ADB}"/>
              </a:ext>
            </a:extLst>
          </p:cNvPr>
          <p:cNvSpPr/>
          <p:nvPr/>
        </p:nvSpPr>
        <p:spPr>
          <a:xfrm>
            <a:off x="7543800" y="5859176"/>
            <a:ext cx="335660" cy="304800"/>
          </a:xfrm>
          <a:prstGeom prst="rightArrow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7196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Question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70DD5F-80AF-47A6-9622-DF0880C2AE63}"/>
              </a:ext>
            </a:extLst>
          </p:cNvPr>
          <p:cNvSpPr txBox="1"/>
          <p:nvPr/>
        </p:nvSpPr>
        <p:spPr>
          <a:xfrm>
            <a:off x="3810000" y="643467"/>
            <a:ext cx="51816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Covariation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Goal: Explain Variation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Describes the Behavior Between Variables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We Often Attempt to Explain Variation </a:t>
            </a:r>
            <a:r>
              <a:rPr lang="en-US" b="1" dirty="0">
                <a:solidFill>
                  <a:srgbClr val="404040"/>
                </a:solidFill>
              </a:rPr>
              <a:t>Within</a:t>
            </a:r>
            <a:r>
              <a:rPr lang="en-US" dirty="0">
                <a:solidFill>
                  <a:srgbClr val="404040"/>
                </a:solidFill>
              </a:rPr>
              <a:t> by Looking at Covariation </a:t>
            </a:r>
            <a:r>
              <a:rPr lang="en-US" b="1" dirty="0">
                <a:solidFill>
                  <a:srgbClr val="404040"/>
                </a:solidFill>
              </a:rPr>
              <a:t>Between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b="1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Identify the </a:t>
            </a:r>
            <a:r>
              <a:rPr lang="en-US" b="1" dirty="0">
                <a:solidFill>
                  <a:srgbClr val="404040"/>
                </a:solidFill>
              </a:rPr>
              <a:t>Signal </a:t>
            </a:r>
            <a:r>
              <a:rPr lang="en-US" dirty="0">
                <a:solidFill>
                  <a:srgbClr val="404040"/>
                </a:solidFill>
              </a:rPr>
              <a:t>despite   the </a:t>
            </a:r>
            <a:r>
              <a:rPr lang="en-US" b="1" dirty="0">
                <a:solidFill>
                  <a:srgbClr val="404040"/>
                </a:solidFill>
              </a:rPr>
              <a:t>Noise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2517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Question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E99881-16E9-4B85-86C1-D7DDED41197F}"/>
              </a:ext>
            </a:extLst>
          </p:cNvPr>
          <p:cNvSpPr txBox="1"/>
          <p:nvPr/>
        </p:nvSpPr>
        <p:spPr>
          <a:xfrm>
            <a:off x="3810000" y="643467"/>
            <a:ext cx="52578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More Questions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Example: Random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Are there Occupations with an Unusual Distribution of Eye Color?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Does Occupation Affect Salary?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What is the Relationship Between Salary and Hair Count?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404040"/>
                </a:solidFill>
              </a:rPr>
              <a:t>Example: Wages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2664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Visualize</a:t>
            </a:r>
            <a:b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</a:b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Summarize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E99881-16E9-4B85-86C1-D7DDED41197F}"/>
              </a:ext>
            </a:extLst>
          </p:cNvPr>
          <p:cNvSpPr txBox="1"/>
          <p:nvPr/>
        </p:nvSpPr>
        <p:spPr>
          <a:xfrm>
            <a:off x="3810000" y="643467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Categorical and Numeric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237FAE-066C-4F49-9145-02B796B8F4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2550" y="1219200"/>
            <a:ext cx="5495250" cy="3988262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3992440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Visualize</a:t>
            </a:r>
            <a:b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</a:b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Summarize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E99881-16E9-4B85-86C1-D7DDED41197F}"/>
              </a:ext>
            </a:extLst>
          </p:cNvPr>
          <p:cNvSpPr txBox="1"/>
          <p:nvPr/>
        </p:nvSpPr>
        <p:spPr>
          <a:xfrm>
            <a:off x="3810000" y="643467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Categorical and Numeric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078915-F132-4FFA-9E26-0DB47DAE9A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2550" y="1219200"/>
            <a:ext cx="5469850" cy="3915995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892687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Visualize</a:t>
            </a:r>
            <a:b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</a:b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Summarize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E99881-16E9-4B85-86C1-D7DDED41197F}"/>
              </a:ext>
            </a:extLst>
          </p:cNvPr>
          <p:cNvSpPr txBox="1"/>
          <p:nvPr/>
        </p:nvSpPr>
        <p:spPr>
          <a:xfrm>
            <a:off x="3810000" y="643467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Categorical and Numeric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C694AD-D9E5-4E33-B523-EB70753E6D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1168400"/>
            <a:ext cx="5486400" cy="3889094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3209066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Visualize</a:t>
            </a:r>
            <a:b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</a:b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Summarize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E99881-16E9-4B85-86C1-D7DDED41197F}"/>
              </a:ext>
            </a:extLst>
          </p:cNvPr>
          <p:cNvSpPr txBox="1"/>
          <p:nvPr/>
        </p:nvSpPr>
        <p:spPr>
          <a:xfrm>
            <a:off x="3810000" y="643467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Categorical and Numeric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12E7E9-5362-480E-B23C-4A9060F6D8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3322" y="1143000"/>
            <a:ext cx="4614333" cy="1756201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17C690-85EC-43D7-B0CA-EF794DB2D9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1400" y="3048000"/>
            <a:ext cx="5486400" cy="3361038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299405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Visualize</a:t>
            </a:r>
            <a:b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</a:b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Summarize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E99881-16E9-4B85-86C1-D7DDED41197F}"/>
              </a:ext>
            </a:extLst>
          </p:cNvPr>
          <p:cNvSpPr txBox="1"/>
          <p:nvPr/>
        </p:nvSpPr>
        <p:spPr>
          <a:xfrm>
            <a:off x="3810000" y="643467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Categorical and Categorical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34928D-24E6-4C75-AE80-DA99AFA760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8434" y="1214690"/>
            <a:ext cx="5509365" cy="4428619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1246454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Visualize</a:t>
            </a:r>
            <a:b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</a:b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Summarize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E99881-16E9-4B85-86C1-D7DDED41197F}"/>
              </a:ext>
            </a:extLst>
          </p:cNvPr>
          <p:cNvSpPr txBox="1"/>
          <p:nvPr/>
        </p:nvSpPr>
        <p:spPr>
          <a:xfrm>
            <a:off x="3810000" y="643467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Categorical and Categorical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7EC4B2-8088-4D15-9F36-39C7192F47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2100" y="1219200"/>
            <a:ext cx="5460380" cy="3962400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4040584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Visualize</a:t>
            </a:r>
            <a:b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</a:b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Summarize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E99881-16E9-4B85-86C1-D7DDED41197F}"/>
              </a:ext>
            </a:extLst>
          </p:cNvPr>
          <p:cNvSpPr txBox="1"/>
          <p:nvPr/>
        </p:nvSpPr>
        <p:spPr>
          <a:xfrm>
            <a:off x="3810000" y="643467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Categorical and Categorical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EA664C-FB0D-40CB-8CF3-A457D1687A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1219200"/>
            <a:ext cx="5248275" cy="1152525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7284D1-25AA-4C7C-ABDA-61744BA220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2590800"/>
            <a:ext cx="5248274" cy="3245116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3131860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Visualize</a:t>
            </a:r>
            <a:b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</a:b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Summarize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E99881-16E9-4B85-86C1-D7DDED41197F}"/>
              </a:ext>
            </a:extLst>
          </p:cNvPr>
          <p:cNvSpPr txBox="1"/>
          <p:nvPr/>
        </p:nvSpPr>
        <p:spPr>
          <a:xfrm>
            <a:off x="3810000" y="643467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Categorical and Categorical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0C5C8A-E59B-4299-85F7-E2C0E6F54E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1143000"/>
            <a:ext cx="4953000" cy="3146724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CED585-3315-4193-9AF4-619A901DD6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4470401"/>
            <a:ext cx="4953000" cy="1295400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299301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Visualize</a:t>
            </a:r>
            <a:b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</a:b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Summarize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E99881-16E9-4B85-86C1-D7DDED41197F}"/>
              </a:ext>
            </a:extLst>
          </p:cNvPr>
          <p:cNvSpPr txBox="1"/>
          <p:nvPr/>
        </p:nvSpPr>
        <p:spPr>
          <a:xfrm>
            <a:off x="3810000" y="643467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Categorical and Categorical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0C5C8A-E59B-4299-85F7-E2C0E6F54E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1143000"/>
            <a:ext cx="4953000" cy="3146724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CAF17A-9735-4E0D-80FE-E1A8BC997E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1143000"/>
            <a:ext cx="4953000" cy="3457388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51B460-3DB9-425A-969C-2A36275D24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6200" y="4738250"/>
            <a:ext cx="4961467" cy="1287211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25010659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Visualize</a:t>
            </a:r>
            <a:b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</a:b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Summarize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E99881-16E9-4B85-86C1-D7DDED41197F}"/>
              </a:ext>
            </a:extLst>
          </p:cNvPr>
          <p:cNvSpPr txBox="1"/>
          <p:nvPr/>
        </p:nvSpPr>
        <p:spPr>
          <a:xfrm>
            <a:off x="3810000" y="643467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Categorical and Categorical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C224A8-5C02-4A93-892E-11348BC8A5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0490" y="1105132"/>
            <a:ext cx="5447310" cy="5634269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2217701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Visualize</a:t>
            </a:r>
            <a:b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</a:b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Summarize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E99881-16E9-4B85-86C1-D7DDED41197F}"/>
              </a:ext>
            </a:extLst>
          </p:cNvPr>
          <p:cNvSpPr txBox="1"/>
          <p:nvPr/>
        </p:nvSpPr>
        <p:spPr>
          <a:xfrm>
            <a:off x="3810000" y="643467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Numerical and Numerical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122B42-AEF4-4AA3-9DBD-66B72B0094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9027" y="1159669"/>
            <a:ext cx="5468773" cy="4538662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41370803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Visualize</a:t>
            </a:r>
            <a:b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</a:b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Summarize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E99881-16E9-4B85-86C1-D7DDED41197F}"/>
              </a:ext>
            </a:extLst>
          </p:cNvPr>
          <p:cNvSpPr txBox="1"/>
          <p:nvPr/>
        </p:nvSpPr>
        <p:spPr>
          <a:xfrm>
            <a:off x="3810000" y="643467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Numerical and Numerical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13AF2D-9652-4FAB-8F99-1B50A73E8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1124856"/>
            <a:ext cx="5439926" cy="4682253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31008415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Visualize</a:t>
            </a:r>
            <a:b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</a:b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Summarize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E99881-16E9-4B85-86C1-D7DDED41197F}"/>
              </a:ext>
            </a:extLst>
          </p:cNvPr>
          <p:cNvSpPr txBox="1"/>
          <p:nvPr/>
        </p:nvSpPr>
        <p:spPr>
          <a:xfrm>
            <a:off x="3810000" y="643467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Numerical and Numerical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298F9E-696A-4E77-B8D5-78FF12B6CE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5903" y="1219200"/>
            <a:ext cx="5501897" cy="3978732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24196736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Visualize</a:t>
            </a:r>
            <a:b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</a:br>
            <a:r>
              <a:rPr lang="en-US" sz="2400" dirty="0">
                <a:solidFill>
                  <a:schemeClr val="bg1"/>
                </a:solidFill>
                <a:ea typeface="+mj-ea"/>
                <a:cs typeface="+mj-cs"/>
              </a:rPr>
              <a:t>Summarize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E99881-16E9-4B85-86C1-D7DDED41197F}"/>
              </a:ext>
            </a:extLst>
          </p:cNvPr>
          <p:cNvSpPr txBox="1"/>
          <p:nvPr/>
        </p:nvSpPr>
        <p:spPr>
          <a:xfrm>
            <a:off x="3810000" y="643467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04040"/>
                </a:solidFill>
              </a:rPr>
              <a:t>Numerical and Numerical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5D1C43-B28C-438B-959D-2E162F9E59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5106" y="1214735"/>
            <a:ext cx="5457294" cy="3917156"/>
          </a:xfrm>
          <a:prstGeom prst="rect">
            <a:avLst/>
          </a:prstGeom>
          <a:ln>
            <a:solidFill>
              <a:srgbClr val="4040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3928077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Closing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D4292-9ECC-4DA5-8CC0-C561A0DA11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0" r="9400"/>
          <a:stretch/>
        </p:blipFill>
        <p:spPr>
          <a:xfrm>
            <a:off x="660103" y="3048000"/>
            <a:ext cx="2167974" cy="2624666"/>
          </a:xfrm>
          <a:prstGeom prst="rect">
            <a:avLst/>
          </a:prstGeom>
          <a:noFill/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FE51533-15BE-453E-90FE-08298901BC34}"/>
              </a:ext>
            </a:extLst>
          </p:cNvPr>
          <p:cNvSpPr txBox="1">
            <a:spLocks/>
          </p:cNvSpPr>
          <p:nvPr/>
        </p:nvSpPr>
        <p:spPr bwMode="auto">
          <a:xfrm>
            <a:off x="3810000" y="643466"/>
            <a:ext cx="4851400" cy="5833533"/>
          </a:xfrm>
          <a:prstGeom prst="rect">
            <a:avLst/>
          </a:prstGeom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pitchFamily="-109" charset="-128"/>
                <a:cs typeface="ＭＳ Ｐゴシック" pitchFamily="-109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ＭＳ Ｐゴシック" pitchFamily="-109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ＭＳ Ｐゴシック" pitchFamily="-109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pitchFamily="-109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pitchFamily="-109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defTabSz="9144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04040"/>
              </a:solidFill>
              <a:ea typeface="+mn-ea"/>
              <a:cs typeface="+mn-cs"/>
            </a:endParaRPr>
          </a:p>
          <a:p>
            <a:pPr indent="-228600" defTabSz="9144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04040"/>
              </a:solidFill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754C74-871F-42E2-A79F-10B9CCA16CD5}"/>
              </a:ext>
            </a:extLst>
          </p:cNvPr>
          <p:cNvSpPr txBox="1">
            <a:spLocks/>
          </p:cNvSpPr>
          <p:nvPr/>
        </p:nvSpPr>
        <p:spPr bwMode="auto">
          <a:xfrm>
            <a:off x="3973322" y="643466"/>
            <a:ext cx="4851400" cy="5953916"/>
          </a:xfrm>
          <a:prstGeom prst="rect">
            <a:avLst/>
          </a:prstGeom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pitchFamily="-109" charset="-128"/>
                <a:cs typeface="ＭＳ Ｐゴシック" pitchFamily="-109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ＭＳ Ｐゴシック" pitchFamily="-109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ＭＳ Ｐゴシック" pitchFamily="-109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pitchFamily="-109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pitchFamily="-109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defTabSz="914400" eaLnBrk="1" hangingPunct="1">
              <a:lnSpc>
                <a:spcPct val="90000"/>
              </a:lnSpc>
              <a:buNone/>
            </a:pPr>
            <a:r>
              <a:rPr lang="en-US" sz="7200" dirty="0">
                <a:solidFill>
                  <a:srgbClr val="404040"/>
                </a:solidFill>
                <a:ea typeface="+mn-ea"/>
                <a:cs typeface="+mn-cs"/>
              </a:rPr>
              <a:t>Disperse and Make Reasonable Decisions</a:t>
            </a:r>
          </a:p>
          <a:p>
            <a:pPr indent="-228600" defTabSz="9144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7200" dirty="0">
              <a:solidFill>
                <a:srgbClr val="404040"/>
              </a:solidFill>
              <a:ea typeface="+mn-ea"/>
              <a:cs typeface="+mn-cs"/>
            </a:endParaRPr>
          </a:p>
          <a:p>
            <a:pPr indent="-228600" defTabSz="9144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7200" dirty="0">
              <a:solidFill>
                <a:srgbClr val="404040"/>
              </a:solidFill>
              <a:ea typeface="+mn-ea"/>
              <a:cs typeface="+mn-cs"/>
            </a:endParaRPr>
          </a:p>
          <a:p>
            <a:pPr indent="-228600" defTabSz="9144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7200" dirty="0">
              <a:solidFill>
                <a:srgbClr val="404040"/>
              </a:solidFill>
              <a:ea typeface="+mn-ea"/>
              <a:cs typeface="+mn-cs"/>
            </a:endParaRPr>
          </a:p>
          <a:p>
            <a:pPr indent="-228600" defTabSz="9144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7200" dirty="0">
              <a:solidFill>
                <a:srgbClr val="404040"/>
              </a:solidFill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70664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ANDSHOWBAR" val="True"/>
  <p:tag name="BULLETTYPE" val="3"/>
  <p:tag name="RESPCOUNTERSTYLE" val="-1"/>
  <p:tag name="INPUTSOURCE" val="1"/>
  <p:tag name="BACKUPMAINTENANCE" val="7"/>
  <p:tag name="ROTATIONINTERVAL" val="2"/>
  <p:tag name="RACERSMAXDISPLAYED" val="5"/>
  <p:tag name="TEAMSINLEADERBOARD" val="5"/>
  <p:tag name="BUBBLEVALUEFORMAT" val="0.0"/>
  <p:tag name="CUSTOMCELLFORECOLOR" val="-16777216"/>
  <p:tag name="CUSTOMCELLBACKCOLOR4" val="-8355712"/>
  <p:tag name="DISPLAYDEVICEID" val="True"/>
  <p:tag name="GRIDSIZE" val="{Width=800, Height=600}"/>
  <p:tag name="CHARTLABELS" val="1"/>
  <p:tag name="PARTLISTDEFAULT" val="1"/>
  <p:tag name="INCORRECTPOINTVALUE" val="0"/>
  <p:tag name="AUTOADJUSTPARTRANGE" val="True"/>
  <p:tag name="FIBNUMRESULTS" val="5"/>
  <p:tag name="PRRESPONSE2" val="9"/>
  <p:tag name="PRRESPONSE6" val="5"/>
  <p:tag name="PRRESPONSE10" val="1"/>
  <p:tag name="POWERPOINTVERSION" val="12.0"/>
  <p:tag name="CSVFORMAT" val="0"/>
  <p:tag name="RESPCOUNTERFORMAT" val="0"/>
  <p:tag name="ALLOWDUPLICATES" val="False"/>
  <p:tag name="REVIEWONLY" val="False"/>
  <p:tag name="RACEANIMATIONSPEED" val="3"/>
  <p:tag name="BUBBLENAMEVISIBLE" val="True"/>
  <p:tag name="CUSTOMGRIDBACKCOLOR" val="-722948"/>
  <p:tag name="USESCHEMECOLORS" val="True"/>
  <p:tag name="GRIDROTATIONINTERVAL" val="2"/>
  <p:tag name="CHARTCOLORS" val="0"/>
  <p:tag name="INCLUDEPPT" val="True"/>
  <p:tag name="REALTIMEBACKUPPATH" val="(None)"/>
  <p:tag name="FIBDISPLAYRESULTS" val="True"/>
  <p:tag name="PRRESPONSE3" val="8"/>
  <p:tag name="PRRESPONSE8" val="3"/>
  <p:tag name="TPVERSION" val="2008"/>
  <p:tag name="ANSWERNOWSTYLE" val="-1"/>
  <p:tag name="COUNTDOWNSECONDS" val="10"/>
  <p:tag name="AUTOADVANCE" val="False"/>
  <p:tag name="SKIPREMAININGRACESLIDES" val="True"/>
  <p:tag name="BUBBLEGROUPING" val="3"/>
  <p:tag name="CUSTOMCELLBACKCOLOR3" val="-268652"/>
  <p:tag name="AUTOSIZEGRID" val="True"/>
  <p:tag name="INCLUDENONRESPONDERS" val="False"/>
  <p:tag name="REALTIMEBACKUP" val="False"/>
  <p:tag name="FIBINCLUDEOTHER" val="True"/>
  <p:tag name="PRRESPONSE5" val="6"/>
  <p:tag name="ALWAYSOPENPOLL" val="False"/>
  <p:tag name="ANSWERNOWTEXT" val="Answer Now"/>
  <p:tag name="BACKUPSESSIONS" val="True"/>
  <p:tag name="RACEENDPOINTS" val="100"/>
  <p:tag name="DEFAULTNUMTEAMS" val="5"/>
  <p:tag name="DISPLAYDEVICENUMBER" val="True"/>
  <p:tag name="RESETCHARTS" val="True"/>
  <p:tag name="ZEROBASED" val="False"/>
  <p:tag name="PRRESPONSE1" val="10"/>
  <p:tag name="SHOWFLASHWARNING" val="True"/>
  <p:tag name="COUNTDOWNSTYLE" val="-1"/>
  <p:tag name="AUTOUPDATEALIASES" val="True"/>
  <p:tag name="BUBBLESIZEVISIBLE" val="True"/>
  <p:tag name="GRIDOPACITY" val="90"/>
  <p:tag name="ALLOWUSERFEEDBACK" val="True"/>
  <p:tag name="FIBDISPLAYKEYWORDS" val="True"/>
  <p:tag name="SHOWBARVISIBLE" val="True"/>
  <p:tag name="NUMRESPONSES" val="1"/>
  <p:tag name="MAXRESPONDERS" val="5"/>
  <p:tag name="GRIDPOSITION" val="1"/>
  <p:tag name="CHARTSCALE" val="True"/>
  <p:tag name="PRRESPONSE9" val="2"/>
  <p:tag name="CHARTVALUEFORMAT" val="0%"/>
  <p:tag name="CUSTOMCELLBACKCOLOR2" val="-13395457"/>
  <p:tag name="CORRECTPOINTVALUE" val="1"/>
  <p:tag name="USESECONDARYMONITOR" val="True"/>
  <p:tag name="PARTICIPANTSINLEADERBOARD" val="5"/>
  <p:tag name="MULTIRESPDIVISOR" val="1"/>
  <p:tag name="SAVECSVWITHSESSION" val="False"/>
  <p:tag name="DISPLAYNAME" val="True"/>
  <p:tag name="PRRESPONSE7" val="4"/>
  <p:tag name="POLLINGCYCLE" val="2"/>
  <p:tag name="STDCHART" val="1"/>
  <p:tag name="RESPTABLESTYLE" val="-1"/>
  <p:tag name="CUSTOMCELLBACKCOLOR1" val="-657956"/>
  <p:tag name="PRRESPONSE4" val="7"/>
  <p:tag name="ADVANCEDSETTINGSVIEW" val="Tru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1682</TotalTime>
  <Words>469</Words>
  <Application>Microsoft Office PowerPoint</Application>
  <PresentationFormat>On-screen Show (4:3)</PresentationFormat>
  <Paragraphs>199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Office Theme</vt:lpstr>
      <vt:lpstr>1_Office Theme</vt:lpstr>
      <vt:lpstr>Exploratory  Data Analysis I</vt:lpstr>
      <vt:lpstr>EDA Defined</vt:lpstr>
      <vt:lpstr>Data</vt:lpstr>
      <vt:lpstr>Data</vt:lpstr>
      <vt:lpstr>Question</vt:lpstr>
      <vt:lpstr>Question</vt:lpstr>
      <vt:lpstr>Question</vt:lpstr>
      <vt:lpstr>Visualize Summarize</vt:lpstr>
      <vt:lpstr>Visualize Summarize</vt:lpstr>
      <vt:lpstr>Unusual Values</vt:lpstr>
      <vt:lpstr>Unusual Values</vt:lpstr>
      <vt:lpstr>Question</vt:lpstr>
      <vt:lpstr>Question</vt:lpstr>
      <vt:lpstr>Visualize Summarize</vt:lpstr>
      <vt:lpstr>Visualize Summarize</vt:lpstr>
      <vt:lpstr>Visualize Summarize</vt:lpstr>
      <vt:lpstr>Visualize Summarize</vt:lpstr>
      <vt:lpstr>Visualize Summarize</vt:lpstr>
      <vt:lpstr>Visualize Summarize</vt:lpstr>
      <vt:lpstr>Visualize Summarize</vt:lpstr>
      <vt:lpstr>Visualize Summarize</vt:lpstr>
      <vt:lpstr>Visualize Summarize</vt:lpstr>
      <vt:lpstr>Visualize Summarize</vt:lpstr>
      <vt:lpstr>Visualize Summarize</vt:lpstr>
      <vt:lpstr>Visualize Summarize</vt:lpstr>
      <vt:lpstr>Visualize Summarize</vt:lpstr>
      <vt:lpstr>Visualize Summarize</vt:lpstr>
      <vt:lpstr>Closing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Show</dc:title>
  <dc:creator>Super Mario</dc:creator>
  <cp:lastModifiedBy>Giacomazzo, Mario Sy John</cp:lastModifiedBy>
  <cp:revision>157</cp:revision>
  <dcterms:created xsi:type="dcterms:W3CDTF">2018-08-19T01:44:24Z</dcterms:created>
  <dcterms:modified xsi:type="dcterms:W3CDTF">2026-01-30T13:57:46Z</dcterms:modified>
</cp:coreProperties>
</file>