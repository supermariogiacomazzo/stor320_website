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  <p:sldMasterId id="2147483650" r:id="rId2"/>
    <p:sldMasterId id="2147483662" r:id="rId3"/>
  </p:sldMasterIdLst>
  <p:notesMasterIdLst>
    <p:notesMasterId r:id="rId14"/>
  </p:notesMasterIdLst>
  <p:sldIdLst>
    <p:sldId id="256" r:id="rId4"/>
    <p:sldId id="257" r:id="rId5"/>
    <p:sldId id="259" r:id="rId6"/>
    <p:sldId id="262" r:id="rId7"/>
    <p:sldId id="260" r:id="rId8"/>
    <p:sldId id="261" r:id="rId9"/>
    <p:sldId id="263" r:id="rId10"/>
    <p:sldId id="264" r:id="rId11"/>
    <p:sldId id="266" r:id="rId12"/>
    <p:sldId id="265" r:id="rId13"/>
  </p:sldIdLst>
  <p:sldSz cx="9144000" cy="6858000" type="screen4x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8" roundtripDataSignature="AMtx7mjq0nBUJQL3LjbNJDp+7lYH11Ce0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F3F3F"/>
    <a:srgbClr val="4F81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40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272" y="8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customschemas.google.com/relationships/presentationmetadata" Target="metadata"/><Relationship Id="rId3" Type="http://schemas.openxmlformats.org/officeDocument/2006/relationships/slideMaster" Target="slideMasters/slideMaster3.xml"/><Relationship Id="rId21" Type="http://schemas.openxmlformats.org/officeDocument/2006/relationships/theme" Target="theme/theme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2" Type="http://schemas.openxmlformats.org/officeDocument/2006/relationships/slideMaster" Target="slideMasters/slideMaster2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0" Type="http://schemas.openxmlformats.org/officeDocument/2006/relationships/slide" Target="slides/slide7.xml"/><Relationship Id="rId19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notesMaster" Target="notesMasters/notesMaster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>
          <a:extLst>
            <a:ext uri="{FF2B5EF4-FFF2-40B4-BE49-F238E27FC236}">
              <a16:creationId xmlns:a16="http://schemas.microsoft.com/office/drawing/2014/main" id="{51581956-DD5C-E4D3-4B1E-0CE40A02F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9:notes">
            <a:extLst>
              <a:ext uri="{FF2B5EF4-FFF2-40B4-BE49-F238E27FC236}">
                <a16:creationId xmlns:a16="http://schemas.microsoft.com/office/drawing/2014/main" id="{9AE2D2E2-A2E2-DDFD-BB5D-78A03FDD9B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:notes">
            <a:extLst>
              <a:ext uri="{FF2B5EF4-FFF2-40B4-BE49-F238E27FC236}">
                <a16:creationId xmlns:a16="http://schemas.microsoft.com/office/drawing/2014/main" id="{4BA05FFB-3A85-9204-88A9-2B963FEF48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320503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1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" name="Google Shape;29;p1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7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7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5" name="Google Shape;35;p1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8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4000" b="1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1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8" name="Google Shape;48;p1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1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2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0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4" name="Google Shape;54;p20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55" name="Google Shape;55;p20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6" name="Google Shape;56;p20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57" name="Google Shape;57;p2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2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3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3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2" name="Google Shape;72;p23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73" name="Google Shape;73;p2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4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4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24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80" name="Google Shape;80;p2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2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25"/>
          <p:cNvSpPr txBox="1">
            <a:spLocks noGrp="1"/>
          </p:cNvSpPr>
          <p:nvPr>
            <p:ph type="body" idx="1"/>
          </p:nvPr>
        </p:nvSpPr>
        <p:spPr>
          <a:xfrm rot="5400000">
            <a:off x="2309018" y="-251619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6" name="Google Shape;86;p2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2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2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6"/>
          <p:cNvSpPr txBox="1">
            <a:spLocks noGrp="1"/>
          </p:cNvSpPr>
          <p:nvPr>
            <p:ph type="title"/>
          </p:nvPr>
        </p:nvSpPr>
        <p:spPr>
          <a:xfrm rot="5400000">
            <a:off x="4732337" y="2171700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26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1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2" name="Google Shape;92;p2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2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2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7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27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04" name="Google Shape;104;p2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2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6" name="Google Shape;106;p2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2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0" name="Google Shape;110;p2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2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2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9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4000" b="1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29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16" name="Google Shape;116;p2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2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2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3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122" name="Google Shape;122;p30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123" name="Google Shape;123;p3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3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3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3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31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29" name="Google Shape;129;p31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130" name="Google Shape;130;p31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31" name="Google Shape;131;p31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132" name="Google Shape;132;p3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3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4" name="Google Shape;134;p3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7" name="Google Shape;137;p1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1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p1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3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2" name="Google Shape;142;p3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3" name="Google Shape;143;p3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33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6" name="Google Shape;146;p33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147" name="Google Shape;147;p33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48" name="Google Shape;148;p3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9" name="Google Shape;149;p3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0" name="Google Shape;150;p3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4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34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54" name="Google Shape;154;p34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55" name="Google Shape;155;p3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6" name="Google Shape;156;p3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3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3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0" name="Google Shape;160;p35"/>
          <p:cNvSpPr txBox="1">
            <a:spLocks noGrp="1"/>
          </p:cNvSpPr>
          <p:nvPr>
            <p:ph type="body" idx="1"/>
          </p:nvPr>
        </p:nvSpPr>
        <p:spPr>
          <a:xfrm rot="5400000">
            <a:off x="2309018" y="-251619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1" name="Google Shape;161;p3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3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3" name="Google Shape;163;p3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6"/>
          <p:cNvSpPr txBox="1">
            <a:spLocks noGrp="1"/>
          </p:cNvSpPr>
          <p:nvPr>
            <p:ph type="title"/>
          </p:nvPr>
        </p:nvSpPr>
        <p:spPr>
          <a:xfrm rot="5400000">
            <a:off x="4732337" y="2171700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6" name="Google Shape;166;p36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1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7" name="Google Shape;167;p3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8" name="Google Shape;168;p3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p3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 type="tx">
  <p:cSld name="TITLE_AND_BODY"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2" name="Google Shape;172;p3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3" name="Google Shape;173;p3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4" name="Google Shape;174;p3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5" name="Google Shape;175;p3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" name="Google Shape;22;p1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" name="Google Shape;23;p1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4" name="Google Shape;24;p1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5" name="Google Shape;25;p1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7" name="Google Shape;97;p1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8" name="Google Shape;98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9" name="Google Shape;99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0" name="Google Shape;100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  <p:sldLayoutId id="2147483674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SuperMarioGiacomazzo/STOR320_WEBSITE/raw/master/R%20for%20Data%20Science-%20Import%2C%20Tidy%2C%20Transform%2C%20Visualize%2C%20and%20Model%20Data.pdf" TargetMode="External"/><Relationship Id="rId5" Type="http://schemas.openxmlformats.org/officeDocument/2006/relationships/hyperlink" Target="https://www.rstudio.com/products/rstudio/#Desktop" TargetMode="External"/><Relationship Id="rId4" Type="http://schemas.openxmlformats.org/officeDocument/2006/relationships/hyperlink" Target="https://cran.r-project.org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markdown.rstudio.com/lesson-1.html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14141"/>
        </a:solidFill>
        <a:effectLst/>
      </p:bgPr>
    </p:bg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"/>
          <p:cNvSpPr txBox="1">
            <a:spLocks noGrp="1"/>
          </p:cNvSpPr>
          <p:nvPr>
            <p:ph type="title"/>
          </p:nvPr>
        </p:nvSpPr>
        <p:spPr>
          <a:xfrm>
            <a:off x="5181600" y="2438400"/>
            <a:ext cx="3483937" cy="16250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i="1"/>
              <a:t>Welcome to the Show</a:t>
            </a:r>
            <a:endParaRPr/>
          </a:p>
        </p:txBody>
      </p:sp>
      <p:sp>
        <p:nvSpPr>
          <p:cNvPr id="181" name="Google Shape;181;p1"/>
          <p:cNvSpPr/>
          <p:nvPr/>
        </p:nvSpPr>
        <p:spPr>
          <a:xfrm flipH="1">
            <a:off x="0" y="0"/>
            <a:ext cx="4629586" cy="6858000"/>
          </a:xfrm>
          <a:custGeom>
            <a:avLst/>
            <a:gdLst/>
            <a:ahLst/>
            <a:cxnLst/>
            <a:rect l="l" t="t" r="r" b="b"/>
            <a:pathLst>
              <a:path w="6172782" h="6858000" extrusionOk="0">
                <a:moveTo>
                  <a:pt x="6172782" y="0"/>
                </a:moveTo>
                <a:lnTo>
                  <a:pt x="69075" y="0"/>
                </a:lnTo>
                <a:lnTo>
                  <a:pt x="35131" y="267128"/>
                </a:lnTo>
                <a:cubicBezTo>
                  <a:pt x="11901" y="495874"/>
                  <a:pt x="0" y="727970"/>
                  <a:pt x="0" y="962845"/>
                </a:cubicBezTo>
                <a:cubicBezTo>
                  <a:pt x="0" y="3429034"/>
                  <a:pt x="1312002" y="5588789"/>
                  <a:pt x="3276103" y="6782205"/>
                </a:cubicBezTo>
                <a:lnTo>
                  <a:pt x="3407923" y="6858000"/>
                </a:lnTo>
                <a:lnTo>
                  <a:pt x="6172782" y="6858000"/>
                </a:ln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2" name="Google Shape;182;p1"/>
          <p:cNvPicPr preferRelativeResize="0"/>
          <p:nvPr/>
        </p:nvPicPr>
        <p:blipFill rotWithShape="1">
          <a:blip r:embed="rId3">
            <a:alphaModFix/>
          </a:blip>
          <a:srcRect l="16360" r="17759"/>
          <a:stretch/>
        </p:blipFill>
        <p:spPr>
          <a:xfrm>
            <a:off x="20" y="10"/>
            <a:ext cx="4518095" cy="6857990"/>
          </a:xfrm>
          <a:custGeom>
            <a:avLst/>
            <a:gdLst/>
            <a:ahLst/>
            <a:cxnLst/>
            <a:rect l="l" t="t" r="r" b="b"/>
            <a:pathLst>
              <a:path w="6024154" h="6858000" extrusionOk="0">
                <a:moveTo>
                  <a:pt x="0" y="0"/>
                </a:moveTo>
                <a:lnTo>
                  <a:pt x="5953780" y="0"/>
                </a:lnTo>
                <a:lnTo>
                  <a:pt x="5989880" y="284091"/>
                </a:lnTo>
                <a:cubicBezTo>
                  <a:pt x="6012544" y="507260"/>
                  <a:pt x="6024154" y="733696"/>
                  <a:pt x="6024154" y="962844"/>
                </a:cubicBezTo>
                <a:cubicBezTo>
                  <a:pt x="6024154" y="3483472"/>
                  <a:pt x="4619336" y="5675986"/>
                  <a:pt x="2549934" y="6800152"/>
                </a:cubicBezTo>
                <a:lnTo>
                  <a:pt x="2436987" y="6858000"/>
                </a:lnTo>
                <a:lnTo>
                  <a:pt x="0" y="6858000"/>
                </a:lnTo>
                <a:close/>
              </a:path>
            </a:pathLst>
          </a:cu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8D8D8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"/>
          <p:cNvSpPr/>
          <p:nvPr/>
        </p:nvSpPr>
        <p:spPr>
          <a:xfrm>
            <a:off x="0" y="0"/>
            <a:ext cx="3490722" cy="68580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2"/>
          <p:cNvSpPr txBox="1">
            <a:spLocks noGrp="1"/>
          </p:cNvSpPr>
          <p:nvPr>
            <p:ph type="title"/>
          </p:nvPr>
        </p:nvSpPr>
        <p:spPr>
          <a:xfrm>
            <a:off x="482600" y="643467"/>
            <a:ext cx="2522980" cy="1597315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Who Am I?</a:t>
            </a:r>
            <a:endParaRPr dirty="0"/>
          </a:p>
        </p:txBody>
      </p:sp>
      <p:sp>
        <p:nvSpPr>
          <p:cNvPr id="189" name="Google Shape;189;p2"/>
          <p:cNvSpPr txBox="1"/>
          <p:nvPr/>
        </p:nvSpPr>
        <p:spPr>
          <a:xfrm>
            <a:off x="3810000" y="643467"/>
            <a:ext cx="4851400" cy="5154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Pts val="2400"/>
              <a:buFont typeface="Arial" panose="020B0604020202020204" pitchFamily="34" charset="0"/>
              <a:buChar char="•"/>
            </a:pPr>
            <a:r>
              <a:rPr lang="en-US" sz="2400" b="0" i="0" u="none" strike="noStrike" cap="none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Name: Mario Giacomazzo</a:t>
            </a:r>
            <a:endParaRPr dirty="0">
              <a:solidFill>
                <a:srgbClr val="3F3F3F"/>
              </a:solidFill>
            </a:endParaRPr>
          </a:p>
          <a:p>
            <a:pPr marL="457200" marR="0" lvl="0" indent="-3429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Tx/>
              <a:buSzPts val="2400"/>
              <a:buFont typeface="Arial" panose="020B0604020202020204" pitchFamily="34" charset="0"/>
              <a:buChar char="•"/>
            </a:pPr>
            <a:endParaRPr sz="2400" b="0" i="0" u="none" strike="noStrike" cap="none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429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Tx/>
              <a:buSzPts val="2400"/>
              <a:buFont typeface="Arial" panose="020B0604020202020204" pitchFamily="34" charset="0"/>
              <a:buChar char="•"/>
            </a:pPr>
            <a:r>
              <a:rPr lang="en-US" sz="2400" b="0" i="0" u="none" strike="noStrike" cap="none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Origin: Cleveland, OH</a:t>
            </a:r>
            <a:endParaRPr dirty="0">
              <a:solidFill>
                <a:srgbClr val="3F3F3F"/>
              </a:solidFill>
            </a:endParaRPr>
          </a:p>
          <a:p>
            <a:pPr marL="609600" marR="0" lvl="0" indent="-3429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Tx/>
              <a:buSzPts val="2400"/>
              <a:buFont typeface="Arial" panose="020B0604020202020204" pitchFamily="34" charset="0"/>
              <a:buChar char="•"/>
            </a:pPr>
            <a:endParaRPr sz="2400" b="0" i="0" u="none" strike="noStrike" cap="none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429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Tx/>
              <a:buSzPts val="2400"/>
              <a:buFont typeface="Arial" panose="020B0604020202020204" pitchFamily="34" charset="0"/>
              <a:buChar char="•"/>
            </a:pPr>
            <a:r>
              <a:rPr lang="en-US" sz="2400" b="0" i="0" u="none" strike="noStrike" cap="none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Undergrad: Baldwin-Wallace</a:t>
            </a:r>
            <a:endParaRPr dirty="0">
              <a:solidFill>
                <a:srgbClr val="3F3F3F"/>
              </a:solidFill>
            </a:endParaRPr>
          </a:p>
          <a:p>
            <a:pPr marL="457200" marR="0" lvl="0" indent="-3429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Tx/>
              <a:buSzPts val="2400"/>
              <a:buFont typeface="Arial" panose="020B0604020202020204" pitchFamily="34" charset="0"/>
              <a:buChar char="•"/>
            </a:pPr>
            <a:endParaRPr sz="2400" b="0" i="0" u="none" strike="noStrike" cap="none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429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Tx/>
              <a:buSzPts val="2400"/>
              <a:buFont typeface="Arial" panose="020B0604020202020204" pitchFamily="34" charset="0"/>
              <a:buChar char="•"/>
            </a:pPr>
            <a:r>
              <a:rPr lang="en-US" sz="2400" b="0" i="0" u="none" strike="noStrike" cap="none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Grad: Arizona State University</a:t>
            </a:r>
            <a:endParaRPr dirty="0">
              <a:solidFill>
                <a:srgbClr val="3F3F3F"/>
              </a:solidFill>
            </a:endParaRPr>
          </a:p>
          <a:p>
            <a:pPr marL="266700" marR="0" lvl="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Tx/>
              <a:buSzPts val="2400"/>
            </a:pPr>
            <a:endParaRPr sz="2400" b="0" i="0" u="none" strike="noStrike" cap="none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429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Tx/>
              <a:buSzPts val="2400"/>
              <a:buFont typeface="Arial" panose="020B0604020202020204" pitchFamily="34" charset="0"/>
              <a:buChar char="•"/>
            </a:pPr>
            <a:r>
              <a:rPr lang="en-US" sz="2400" b="0" i="0" u="none" strike="noStrike" cap="none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Research Info</a:t>
            </a:r>
            <a:endParaRPr dirty="0">
              <a:solidFill>
                <a:srgbClr val="3F3F3F"/>
              </a:solidFill>
            </a:endParaRPr>
          </a:p>
        </p:txBody>
      </p:sp>
      <p:pic>
        <p:nvPicPr>
          <p:cNvPr id="190" name="Google Shape;190;p2"/>
          <p:cNvPicPr preferRelativeResize="0"/>
          <p:nvPr/>
        </p:nvPicPr>
        <p:blipFill rotWithShape="1">
          <a:blip r:embed="rId3">
            <a:alphaModFix/>
          </a:blip>
          <a:srcRect l="8000" r="9399"/>
          <a:stretch/>
        </p:blipFill>
        <p:spPr>
          <a:xfrm>
            <a:off x="660103" y="3048000"/>
            <a:ext cx="2167974" cy="26246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8D8D8"/>
        </a:solidFill>
        <a:effectLst/>
      </p:bgPr>
    </p:bg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4"/>
          <p:cNvSpPr/>
          <p:nvPr/>
        </p:nvSpPr>
        <p:spPr>
          <a:xfrm>
            <a:off x="0" y="0"/>
            <a:ext cx="3490722" cy="68580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4"/>
          <p:cNvSpPr txBox="1">
            <a:spLocks noGrp="1"/>
          </p:cNvSpPr>
          <p:nvPr>
            <p:ph type="title"/>
          </p:nvPr>
        </p:nvSpPr>
        <p:spPr>
          <a:xfrm>
            <a:off x="482600" y="643467"/>
            <a:ext cx="2522980" cy="1597315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Why Are We Here?</a:t>
            </a:r>
            <a:endParaRPr dirty="0"/>
          </a:p>
        </p:txBody>
      </p:sp>
      <p:sp>
        <p:nvSpPr>
          <p:cNvPr id="205" name="Google Shape;205;p4"/>
          <p:cNvSpPr txBox="1"/>
          <p:nvPr/>
        </p:nvSpPr>
        <p:spPr>
          <a:xfrm>
            <a:off x="3601720" y="4368928"/>
            <a:ext cx="5129365" cy="9245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2400"/>
              <a:buFont typeface="Arial"/>
              <a:buNone/>
            </a:pPr>
            <a:r>
              <a:rPr lang="en-US" sz="2400" b="0" i="1" u="none" strike="noStrike" cap="non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Definition: The easiest part of research</a:t>
            </a:r>
            <a:endParaRPr/>
          </a:p>
          <a:p>
            <a:pPr marL="342900" marR="0" lvl="0" indent="-762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1" u="none" strike="noStrike" cap="non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4300" marR="0" lvl="0" indent="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1" u="none" strike="noStrike" cap="non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6" name="Google Shape;206;p4"/>
          <p:cNvPicPr preferRelativeResize="0"/>
          <p:nvPr/>
        </p:nvPicPr>
        <p:blipFill rotWithShape="1">
          <a:blip r:embed="rId3">
            <a:alphaModFix/>
          </a:blip>
          <a:srcRect l="8000" r="9399"/>
          <a:stretch/>
        </p:blipFill>
        <p:spPr>
          <a:xfrm>
            <a:off x="660103" y="3048000"/>
            <a:ext cx="2167974" cy="262466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26287" y="1752600"/>
            <a:ext cx="4904798" cy="2362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4"/>
          <p:cNvSpPr txBox="1"/>
          <p:nvPr/>
        </p:nvSpPr>
        <p:spPr>
          <a:xfrm>
            <a:off x="3879685" y="643467"/>
            <a:ext cx="4851400" cy="9245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6000"/>
              <a:buFont typeface="Arial"/>
              <a:buNone/>
            </a:pPr>
            <a:r>
              <a:rPr lang="en-US" sz="6000" b="1" i="0" u="none" strike="noStrike" cap="non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Data Science</a:t>
            </a:r>
            <a:endParaRPr/>
          </a:p>
          <a:p>
            <a:pPr marL="342900" marR="0" lvl="0" indent="-127000" algn="l" rtl="0">
              <a:lnSpc>
                <a:spcPct val="9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1600" b="0" i="0" u="none" strike="noStrike" cap="non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4300" marR="0" lvl="0" indent="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sz="2000" b="0" i="0" u="none" strike="noStrike" cap="non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8D8D8"/>
        </a:solidFill>
        <a:effectLst/>
      </p:bgPr>
    </p:bg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7"/>
          <p:cNvSpPr/>
          <p:nvPr/>
        </p:nvSpPr>
        <p:spPr>
          <a:xfrm>
            <a:off x="0" y="0"/>
            <a:ext cx="3490722" cy="68580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7"/>
          <p:cNvSpPr txBox="1">
            <a:spLocks noGrp="1"/>
          </p:cNvSpPr>
          <p:nvPr>
            <p:ph type="title"/>
          </p:nvPr>
        </p:nvSpPr>
        <p:spPr>
          <a:xfrm>
            <a:off x="482600" y="643467"/>
            <a:ext cx="2522980" cy="1597315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What Will </a:t>
            </a:r>
            <a:r>
              <a:rPr lang="en-US" sz="2400" dirty="0">
                <a:solidFill>
                  <a:schemeClr val="lt1"/>
                </a:solidFill>
              </a:rPr>
              <a:t>We Do?</a:t>
            </a:r>
            <a:endParaRPr sz="24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3" name="Google Shape;233;p7"/>
          <p:cNvPicPr preferRelativeResize="0"/>
          <p:nvPr/>
        </p:nvPicPr>
        <p:blipFill rotWithShape="1">
          <a:blip r:embed="rId3">
            <a:alphaModFix/>
          </a:blip>
          <a:srcRect l="8000" r="9399"/>
          <a:stretch/>
        </p:blipFill>
        <p:spPr>
          <a:xfrm>
            <a:off x="660103" y="3048000"/>
            <a:ext cx="2167974" cy="2624666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7"/>
          <p:cNvSpPr txBox="1"/>
          <p:nvPr/>
        </p:nvSpPr>
        <p:spPr>
          <a:xfrm>
            <a:off x="3810000" y="643466"/>
            <a:ext cx="4851400" cy="5833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101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sz="2000" b="0" i="0" u="none" strike="noStrike" cap="non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01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sz="2000" b="0" i="0" u="none" strike="noStrike" cap="non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7"/>
          <p:cNvSpPr txBox="1"/>
          <p:nvPr/>
        </p:nvSpPr>
        <p:spPr>
          <a:xfrm>
            <a:off x="3962400" y="795866"/>
            <a:ext cx="4851400" cy="5833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2400"/>
              <a:buFont typeface="Arial"/>
              <a:buChar char="•"/>
            </a:pPr>
            <a:r>
              <a:rPr lang="en-US" sz="2400" b="0" i="0" u="none" strike="noStrike" cap="non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Develop Skills that Turn into $$$</a:t>
            </a:r>
            <a:endParaRPr/>
          </a:p>
          <a:p>
            <a:pPr marL="742950" marR="0" lvl="1" indent="-2286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404040"/>
              </a:buClr>
              <a:buSzPts val="2400"/>
              <a:buFont typeface="Arial"/>
              <a:buChar char="•"/>
            </a:pPr>
            <a:r>
              <a:rPr lang="en-US" sz="2400" b="0" i="0" u="none" strike="noStrike" cap="non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Computer Programming</a:t>
            </a:r>
            <a:endParaRPr/>
          </a:p>
          <a:p>
            <a:pPr marL="742950" marR="0" lvl="1" indent="-2286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404040"/>
              </a:buClr>
              <a:buSzPts val="2400"/>
              <a:buFont typeface="Arial"/>
              <a:buChar char="•"/>
            </a:pPr>
            <a:r>
              <a:rPr lang="en-US" sz="2400" b="0" i="0" u="none" strike="noStrike" cap="non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Statistical Analyses</a:t>
            </a:r>
            <a:endParaRPr/>
          </a:p>
          <a:p>
            <a:pPr marL="742950" marR="0" lvl="1" indent="-2286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404040"/>
              </a:buClr>
              <a:buSzPts val="2400"/>
              <a:buFont typeface="Arial"/>
              <a:buChar char="•"/>
            </a:pPr>
            <a:r>
              <a:rPr lang="en-US" sz="2400" b="0" i="0" u="none" strike="noStrike" cap="non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Written and Verbal Communication Skills</a:t>
            </a:r>
            <a:endParaRPr/>
          </a:p>
          <a:p>
            <a:pPr marL="742950" marR="0" lvl="1" indent="-2286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404040"/>
              </a:buClr>
              <a:buSzPts val="2400"/>
              <a:buFont typeface="Arial"/>
              <a:buChar char="•"/>
            </a:pPr>
            <a:r>
              <a:rPr lang="en-US" sz="2400" b="0" i="0" u="none" strike="noStrike" cap="non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Creativity and Innovation</a:t>
            </a:r>
            <a:endParaRPr sz="2400" b="0" i="0" u="none" strike="noStrike" cap="non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8D8D8"/>
        </a:solidFill>
        <a:effectLst/>
      </p:bgPr>
    </p:bg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5"/>
          <p:cNvSpPr/>
          <p:nvPr/>
        </p:nvSpPr>
        <p:spPr>
          <a:xfrm>
            <a:off x="0" y="0"/>
            <a:ext cx="3490722" cy="68580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5"/>
          <p:cNvSpPr txBox="1">
            <a:spLocks noGrp="1"/>
          </p:cNvSpPr>
          <p:nvPr>
            <p:ph type="title"/>
          </p:nvPr>
        </p:nvSpPr>
        <p:spPr>
          <a:xfrm>
            <a:off x="482600" y="643467"/>
            <a:ext cx="2522980" cy="1597315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What </a:t>
            </a:r>
            <a:r>
              <a:rPr lang="en-US" sz="2400" dirty="0">
                <a:solidFill>
                  <a:schemeClr val="lt1"/>
                </a:solidFill>
              </a:rPr>
              <a:t>is</a:t>
            </a:r>
            <a:r>
              <a:rPr lang="en-US" sz="2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Needed?</a:t>
            </a:r>
            <a:endParaRPr dirty="0"/>
          </a:p>
        </p:txBody>
      </p:sp>
      <p:pic>
        <p:nvPicPr>
          <p:cNvPr id="215" name="Google Shape;215;p5"/>
          <p:cNvPicPr preferRelativeResize="0"/>
          <p:nvPr/>
        </p:nvPicPr>
        <p:blipFill rotWithShape="1">
          <a:blip r:embed="rId3">
            <a:alphaModFix/>
          </a:blip>
          <a:srcRect l="8003" r="9399"/>
          <a:stretch/>
        </p:blipFill>
        <p:spPr>
          <a:xfrm>
            <a:off x="660103" y="3048000"/>
            <a:ext cx="2167973" cy="2624666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5"/>
          <p:cNvSpPr txBox="1"/>
          <p:nvPr/>
        </p:nvSpPr>
        <p:spPr>
          <a:xfrm>
            <a:off x="3810000" y="643466"/>
            <a:ext cx="4851400" cy="5833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2400"/>
              <a:buFont typeface="Arial"/>
              <a:buChar char="•"/>
            </a:pPr>
            <a:r>
              <a:rPr lang="en-US" sz="2400" b="0" i="0" u="none" strike="noStrike" cap="none" dirty="0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Textbook: </a:t>
            </a:r>
            <a:endParaRPr dirty="0"/>
          </a:p>
          <a:p>
            <a:pPr marL="342900" marR="0" lvl="0" indent="-762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  1</a:t>
            </a:r>
            <a:r>
              <a:rPr lang="en-US" sz="2400" b="0" i="0" u="none" strike="noStrike" cap="none" baseline="30000" dirty="0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st</a:t>
            </a:r>
            <a:r>
              <a:rPr lang="en-US" sz="2400" b="0" i="0" u="none" strike="noStrike" cap="none" dirty="0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 Edition</a:t>
            </a:r>
            <a:endParaRPr sz="2400" b="0" i="0" u="none" strike="noStrike" cap="none" dirty="0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4300" marR="0" lvl="0" indent="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 dirty="0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762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 dirty="0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762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 dirty="0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762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 dirty="0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762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 dirty="0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4300" marR="0" lvl="0" indent="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 dirty="0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2286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404040"/>
              </a:buClr>
              <a:buSzPts val="2400"/>
              <a:buFont typeface="Arial"/>
              <a:buChar char="•"/>
            </a:pPr>
            <a:r>
              <a:rPr lang="en-US" sz="2400" b="0" i="0" u="none" strike="noStrike" cap="none" dirty="0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Computer: We will actively use our laptops in every class.</a:t>
            </a:r>
            <a:endParaRPr dirty="0"/>
          </a:p>
          <a:p>
            <a:pPr marL="342900" marR="0" lvl="0" indent="-762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 dirty="0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2286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404040"/>
              </a:buClr>
              <a:buSzPts val="2400"/>
              <a:buFont typeface="Arial"/>
              <a:buChar char="•"/>
            </a:pPr>
            <a:r>
              <a:rPr lang="en-US" sz="2400" b="0" i="0" u="none" strike="noStrike" cap="none" dirty="0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R and RStudio Installed and Operational</a:t>
            </a:r>
            <a:endParaRPr dirty="0"/>
          </a:p>
          <a:p>
            <a:pPr marL="342900" marR="0" lvl="0" indent="-762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 dirty="0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2286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404040"/>
              </a:buClr>
              <a:buSzPts val="2400"/>
              <a:buFont typeface="Arial"/>
              <a:buChar char="•"/>
            </a:pPr>
            <a:r>
              <a:rPr lang="en-US" sz="2400" b="0" i="0" u="none" strike="noStrike" cap="none" dirty="0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High Tolerance for Pain and Agony</a:t>
            </a:r>
            <a:endParaRPr dirty="0"/>
          </a:p>
          <a:p>
            <a:pPr marL="342900" marR="0" lvl="0" indent="-101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sz="2000" b="0" i="0" u="none" strike="noStrike" cap="none" dirty="0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01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sz="2000" b="0" i="0" u="none" strike="noStrike" cap="none" dirty="0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7" name="Google Shape;217;p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6000" y="667742"/>
            <a:ext cx="1918057" cy="2819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8D8D8"/>
        </a:solidFill>
        <a:effectLst/>
      </p:bgPr>
    </p:bg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6"/>
          <p:cNvSpPr/>
          <p:nvPr/>
        </p:nvSpPr>
        <p:spPr>
          <a:xfrm>
            <a:off x="0" y="0"/>
            <a:ext cx="3490722" cy="68580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6"/>
          <p:cNvSpPr txBox="1">
            <a:spLocks noGrp="1"/>
          </p:cNvSpPr>
          <p:nvPr>
            <p:ph type="title"/>
          </p:nvPr>
        </p:nvSpPr>
        <p:spPr>
          <a:xfrm>
            <a:off x="482600" y="643467"/>
            <a:ext cx="2522980" cy="1597315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What Will </a:t>
            </a:r>
            <a:r>
              <a:rPr lang="en-US" sz="2400" dirty="0">
                <a:solidFill>
                  <a:schemeClr val="lt1"/>
                </a:solidFill>
              </a:rPr>
              <a:t>We Do?</a:t>
            </a:r>
            <a:endParaRPr sz="24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4" name="Google Shape;224;p6"/>
          <p:cNvPicPr preferRelativeResize="0"/>
          <p:nvPr/>
        </p:nvPicPr>
        <p:blipFill rotWithShape="1">
          <a:blip r:embed="rId3">
            <a:alphaModFix/>
          </a:blip>
          <a:srcRect l="8000" r="9399"/>
          <a:stretch/>
        </p:blipFill>
        <p:spPr>
          <a:xfrm>
            <a:off x="660103" y="3048000"/>
            <a:ext cx="2167974" cy="2624666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6"/>
          <p:cNvSpPr txBox="1"/>
          <p:nvPr/>
        </p:nvSpPr>
        <p:spPr>
          <a:xfrm>
            <a:off x="3810000" y="643466"/>
            <a:ext cx="4851400" cy="5833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101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sz="2000" b="0" i="0" u="none" strike="noStrike" cap="non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01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sz="2000" b="0" i="0" u="none" strike="noStrike" cap="non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6"/>
          <p:cNvSpPr txBox="1"/>
          <p:nvPr/>
        </p:nvSpPr>
        <p:spPr>
          <a:xfrm>
            <a:off x="3962400" y="795866"/>
            <a:ext cx="4851400" cy="5833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2286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404040"/>
              </a:buClr>
              <a:buSzPts val="2400"/>
              <a:buFont typeface="Arial"/>
              <a:buChar char="•"/>
            </a:pPr>
            <a:r>
              <a:rPr lang="en-US" sz="2400" b="0" i="0" u="none" strike="noStrike" cap="none" dirty="0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Lectures (Some In-Class Coding)</a:t>
            </a:r>
            <a:endParaRPr lang="en-US" dirty="0">
              <a:ea typeface="Calibri"/>
            </a:endParaRPr>
          </a:p>
          <a:p>
            <a:pPr marL="342900" marR="0" lvl="0" indent="-2286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404040"/>
              </a:buClr>
              <a:buSzPts val="2400"/>
              <a:buFont typeface="Arial"/>
              <a:buChar char="•"/>
            </a:pPr>
            <a:endParaRPr lang="en-US" sz="2400" b="0" i="0" u="none" strike="noStrike" cap="none" dirty="0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2286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404040"/>
              </a:buClr>
              <a:buSzPts val="2400"/>
              <a:buFont typeface="Arial"/>
              <a:buChar char="•"/>
            </a:pPr>
            <a:r>
              <a:rPr lang="en-US" sz="2400" dirty="0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Labs – Work in Groups to Complete Coding Assignments</a:t>
            </a:r>
            <a:endParaRPr lang="en-US" sz="2400" b="0" i="0" u="none" strike="noStrike" cap="none" dirty="0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4300" marR="0" lvl="0" indent="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 dirty="0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2286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404040"/>
              </a:buClr>
              <a:buSzPts val="2400"/>
              <a:buFont typeface="Arial"/>
              <a:buChar char="•"/>
            </a:pPr>
            <a:r>
              <a:rPr lang="en-US" sz="2400" b="0" i="0" u="none" strike="noStrike" cap="none" dirty="0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Weekly Assignments</a:t>
            </a:r>
            <a:endParaRPr dirty="0"/>
          </a:p>
          <a:p>
            <a:pPr marL="742950" marR="0" lvl="1" indent="-2286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404040"/>
              </a:buClr>
              <a:buSzPts val="2400"/>
              <a:buFont typeface="Arial"/>
              <a:buChar char="•"/>
            </a:pPr>
            <a:r>
              <a:rPr lang="en-US" sz="2400" b="0" i="0" u="none" strike="noStrike" cap="none" dirty="0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Labs</a:t>
            </a:r>
          </a:p>
          <a:p>
            <a:pPr marL="742950" marR="0" lvl="1" indent="-2286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404040"/>
              </a:buClr>
              <a:buSzPts val="2400"/>
              <a:buFont typeface="Arial"/>
              <a:buChar char="•"/>
            </a:pPr>
            <a:r>
              <a:rPr lang="en-US" sz="2400" b="0" i="0" u="none" strike="noStrike" cap="none" dirty="0" err="1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Homeworks</a:t>
            </a:r>
            <a:r>
              <a:rPr lang="en-US" sz="2400" b="0" i="0" u="none" strike="noStrike" cap="none" dirty="0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 (Optional)</a:t>
            </a:r>
            <a:endParaRPr dirty="0"/>
          </a:p>
          <a:p>
            <a:pPr marL="742950" marR="0" lvl="1" indent="-2286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404040"/>
              </a:buClr>
              <a:buSzPts val="2400"/>
              <a:buFont typeface="Arial"/>
              <a:buChar char="•"/>
            </a:pPr>
            <a:r>
              <a:rPr lang="en-US" sz="2400" b="0" i="0" u="none" strike="noStrike" cap="none" dirty="0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Mini Projects</a:t>
            </a:r>
            <a:endParaRPr dirty="0"/>
          </a:p>
          <a:p>
            <a:pPr marL="857250" marR="0" lvl="1" indent="-3429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 pitchFamily="34" charset="0"/>
              <a:buChar char="•"/>
            </a:pPr>
            <a:endParaRPr lang="en-US" sz="2400" b="0" i="0" u="none" strike="noStrike" cap="none" dirty="0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2286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404040"/>
              </a:buClr>
              <a:buSzPts val="2400"/>
              <a:buFont typeface="Arial"/>
              <a:buChar char="•"/>
            </a:pPr>
            <a:r>
              <a:rPr lang="en-US" sz="2400" b="0" i="0" u="none" strike="noStrike" cap="none" dirty="0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Final Project</a:t>
            </a:r>
          </a:p>
          <a:p>
            <a:pPr marL="342900" marR="0" lvl="0" indent="-2286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404040"/>
              </a:buClr>
              <a:buSzPts val="2400"/>
              <a:buFont typeface="Arial"/>
              <a:buChar char="•"/>
            </a:pPr>
            <a:endParaRPr lang="en-US" sz="2400" b="0" i="0" u="none" strike="noStrike" cap="none" dirty="0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2286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404040"/>
              </a:buClr>
              <a:buSzPts val="2400"/>
              <a:buFont typeface="Arial"/>
              <a:buChar char="•"/>
            </a:pPr>
            <a:r>
              <a:rPr lang="en-US" sz="2400" b="0" i="0" u="none" strike="noStrike" cap="none" dirty="0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R Markdown for Assignments</a:t>
            </a:r>
            <a:endParaRPr sz="2400" b="0" i="0" u="none" strike="noStrike" cap="none" dirty="0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8D8D8"/>
        </a:solidFill>
        <a:effectLst/>
      </p:bgPr>
    </p:bg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8"/>
          <p:cNvSpPr/>
          <p:nvPr/>
        </p:nvSpPr>
        <p:spPr>
          <a:xfrm>
            <a:off x="0" y="0"/>
            <a:ext cx="3490722" cy="68580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8"/>
          <p:cNvSpPr txBox="1">
            <a:spLocks noGrp="1"/>
          </p:cNvSpPr>
          <p:nvPr>
            <p:ph type="title"/>
          </p:nvPr>
        </p:nvSpPr>
        <p:spPr>
          <a:xfrm>
            <a:off x="482600" y="643467"/>
            <a:ext cx="2522980" cy="1597315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What Should You Do Next</a:t>
            </a:r>
            <a:r>
              <a:rPr lang="en-US" sz="2400" dirty="0">
                <a:solidFill>
                  <a:schemeClr val="lt1"/>
                </a:solidFill>
              </a:rPr>
              <a:t>?</a:t>
            </a:r>
            <a:endParaRPr sz="24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2" name="Google Shape;242;p8"/>
          <p:cNvPicPr preferRelativeResize="0"/>
          <p:nvPr/>
        </p:nvPicPr>
        <p:blipFill rotWithShape="1">
          <a:blip r:embed="rId3">
            <a:alphaModFix/>
          </a:blip>
          <a:srcRect l="8000" r="9399"/>
          <a:stretch/>
        </p:blipFill>
        <p:spPr>
          <a:xfrm>
            <a:off x="660103" y="3048000"/>
            <a:ext cx="2167974" cy="2624666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8"/>
          <p:cNvSpPr txBox="1"/>
          <p:nvPr/>
        </p:nvSpPr>
        <p:spPr>
          <a:xfrm>
            <a:off x="3810000" y="643466"/>
            <a:ext cx="4851400" cy="5833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101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sz="2000" b="0" i="0" u="none" strike="noStrike" cap="non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01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sz="2000" b="0" i="0" u="none" strike="noStrike" cap="non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8"/>
          <p:cNvSpPr txBox="1"/>
          <p:nvPr/>
        </p:nvSpPr>
        <p:spPr>
          <a:xfrm>
            <a:off x="3962400" y="675484"/>
            <a:ext cx="5181600" cy="59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2400"/>
              <a:buFont typeface="Arial"/>
              <a:buChar char="•"/>
            </a:pPr>
            <a:r>
              <a:rPr lang="en-US" sz="2400" b="0" i="0" u="sng" strike="noStrike" cap="none" dirty="0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Install R on Your Laptop</a:t>
            </a:r>
            <a:endParaRPr sz="2400" b="0" i="0" u="none" strike="noStrike" cap="none" dirty="0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14350" marR="0" lvl="1" indent="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 dirty="0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2286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404040"/>
              </a:buClr>
              <a:buSzPts val="2400"/>
              <a:buFont typeface="Arial"/>
              <a:buChar char="•"/>
            </a:pPr>
            <a:r>
              <a:rPr lang="en-US" sz="2400" b="0" i="0" u="sng" strike="noStrike" cap="none" dirty="0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Install </a:t>
            </a:r>
            <a:r>
              <a:rPr lang="en-US" sz="2400" b="0" i="0" u="sng" strike="noStrike" cap="none" dirty="0" err="1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Rstudio</a:t>
            </a:r>
            <a:r>
              <a:rPr lang="en-US" sz="2400" b="0" i="0" u="sng" strike="noStrike" cap="none" dirty="0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on Your Laptop</a:t>
            </a:r>
            <a:endParaRPr sz="2400" b="0" i="0" u="none" strike="noStrike" cap="none" dirty="0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14350" marR="0" lvl="1" indent="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 dirty="0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2286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404040"/>
              </a:buClr>
              <a:buSzPts val="2400"/>
              <a:buFont typeface="Arial"/>
              <a:buChar char="•"/>
            </a:pPr>
            <a:r>
              <a:rPr lang="en-US" sz="2400" b="0" i="0" u="none" strike="noStrike" cap="none" dirty="0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 Download the Textbook</a:t>
            </a:r>
            <a:endParaRPr dirty="0"/>
          </a:p>
          <a:p>
            <a:pPr marL="742950" marR="0" lvl="1" indent="-2286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404040"/>
              </a:buClr>
              <a:buSzPts val="2400"/>
              <a:buFont typeface="Arial"/>
              <a:buChar char="•"/>
            </a:pPr>
            <a:r>
              <a:rPr lang="en-US" sz="2400" b="0" i="0" u="sng" strike="noStrike" cap="none" dirty="0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R4DS</a:t>
            </a:r>
            <a:endParaRPr sz="2400" b="0" i="0" u="none" strike="noStrike" cap="none" dirty="0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14350" marR="0" lvl="1" indent="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 dirty="0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2286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404040"/>
              </a:buClr>
              <a:buSzPts val="2400"/>
              <a:buFont typeface="Arial"/>
              <a:buChar char="•"/>
            </a:pPr>
            <a:r>
              <a:rPr lang="en-US" sz="2400" b="0" i="0" u="none" strike="noStrike" cap="none" dirty="0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Read the Introduction to R4DS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8D8D8"/>
        </a:solidFill>
        <a:effectLst/>
      </p:bgPr>
    </p:bg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9"/>
          <p:cNvSpPr/>
          <p:nvPr/>
        </p:nvSpPr>
        <p:spPr>
          <a:xfrm>
            <a:off x="0" y="0"/>
            <a:ext cx="3490722" cy="68580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9"/>
          <p:cNvSpPr txBox="1">
            <a:spLocks noGrp="1"/>
          </p:cNvSpPr>
          <p:nvPr>
            <p:ph type="title"/>
          </p:nvPr>
        </p:nvSpPr>
        <p:spPr>
          <a:xfrm>
            <a:off x="482600" y="643467"/>
            <a:ext cx="2522980" cy="1597315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What Should You Do Next</a:t>
            </a:r>
            <a:r>
              <a:rPr lang="en-US" sz="2400" dirty="0">
                <a:solidFill>
                  <a:schemeClr val="lt1"/>
                </a:solidFill>
              </a:rPr>
              <a:t>?</a:t>
            </a:r>
            <a:endParaRPr sz="24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1" name="Google Shape;251;p9"/>
          <p:cNvPicPr preferRelativeResize="0"/>
          <p:nvPr/>
        </p:nvPicPr>
        <p:blipFill rotWithShape="1">
          <a:blip r:embed="rId3">
            <a:alphaModFix/>
          </a:blip>
          <a:srcRect l="8000" r="9399"/>
          <a:stretch/>
        </p:blipFill>
        <p:spPr>
          <a:xfrm>
            <a:off x="660103" y="3048000"/>
            <a:ext cx="2167974" cy="2624666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9"/>
          <p:cNvSpPr txBox="1"/>
          <p:nvPr/>
        </p:nvSpPr>
        <p:spPr>
          <a:xfrm>
            <a:off x="3810000" y="643466"/>
            <a:ext cx="4851400" cy="5833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101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sz="2000" b="0" i="0" u="none" strike="noStrike" cap="non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01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sz="2000" b="0" i="0" u="none" strike="noStrike" cap="non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9"/>
          <p:cNvSpPr txBox="1"/>
          <p:nvPr/>
        </p:nvSpPr>
        <p:spPr>
          <a:xfrm>
            <a:off x="3962400" y="675484"/>
            <a:ext cx="5105400" cy="59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2400"/>
              <a:buFont typeface="Arial"/>
              <a:buChar char="•"/>
            </a:pPr>
            <a:r>
              <a:rPr lang="en-US" sz="2400" b="0" i="0" u="none" strike="noStrike" cap="none" dirty="0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Open Your First R Markdown File</a:t>
            </a:r>
            <a:endParaRPr dirty="0"/>
          </a:p>
          <a:p>
            <a:pPr marL="742950" marR="0" lvl="1" indent="-2286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404040"/>
              </a:buClr>
              <a:buSzPts val="2400"/>
              <a:buFont typeface="Arial"/>
              <a:buChar char="•"/>
            </a:pPr>
            <a:r>
              <a:rPr lang="en-US" sz="2400" b="0" i="0" u="sng" strike="noStrike" cap="none" dirty="0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 of </a:t>
            </a:r>
            <a:r>
              <a:rPr lang="en-US" sz="2400" b="0" i="0" u="sng" strike="noStrike" cap="none" dirty="0" err="1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RMarkdown</a:t>
            </a:r>
            <a:endParaRPr sz="2400" b="0" i="0" u="none" strike="noStrike" cap="none" dirty="0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742950" marR="0" lvl="1" indent="-2286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404040"/>
              </a:buClr>
              <a:buSzPts val="2400"/>
              <a:buFont typeface="Arial"/>
              <a:buChar char="•"/>
            </a:pPr>
            <a:r>
              <a:rPr lang="en-US" sz="2400" b="0" i="0" u="none" strike="noStrike" cap="none" dirty="0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First Assignment: </a:t>
            </a:r>
            <a:r>
              <a:rPr lang="en-US" sz="2400" b="0" i="0" strike="noStrike" cap="none" dirty="0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HW1</a:t>
            </a:r>
            <a:endParaRPr sz="2400" b="0" i="0" strike="noStrike" cap="none" dirty="0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742950" marR="0" lvl="1" indent="-2286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404040"/>
              </a:buClr>
              <a:buSzPts val="2400"/>
              <a:buFont typeface="Arial"/>
              <a:buChar char="•"/>
            </a:pPr>
            <a:r>
              <a:rPr lang="en-US" sz="2400" b="0" i="0" u="none" strike="noStrike" cap="none" dirty="0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Steps:</a:t>
            </a:r>
            <a:endParaRPr dirty="0"/>
          </a:p>
          <a:p>
            <a:pPr marL="1143000" marR="0" lvl="2" indent="-2286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404040"/>
              </a:buClr>
              <a:buSzPts val="2400"/>
              <a:buFont typeface="Arial"/>
              <a:buChar char="•"/>
            </a:pPr>
            <a:r>
              <a:rPr lang="en-US" sz="2400" b="0" i="0" u="none" strike="noStrike" cap="none" dirty="0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Watch Video and Read About </a:t>
            </a:r>
            <a:r>
              <a:rPr lang="en-US" sz="2400" b="0" i="0" u="none" strike="noStrike" cap="none" dirty="0" err="1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Rmarkdown</a:t>
            </a:r>
            <a:endParaRPr lang="en-US" sz="2400" b="0" i="0" u="none" strike="noStrike" cap="none" dirty="0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43000" marR="0" lvl="2" indent="-2286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404040"/>
              </a:buClr>
              <a:buSzPts val="2400"/>
              <a:buFont typeface="Arial"/>
              <a:buChar char="•"/>
            </a:pPr>
            <a:r>
              <a:rPr lang="en-US" sz="2400" dirty="0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Download HW1 Zipped Folder</a:t>
            </a:r>
          </a:p>
          <a:p>
            <a:pPr marL="1143000" marR="0" lvl="2" indent="-2286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404040"/>
              </a:buClr>
              <a:buSzPts val="2400"/>
              <a:buFont typeface="Arial"/>
              <a:buChar char="•"/>
            </a:pPr>
            <a:r>
              <a:rPr lang="en-US" sz="2400" b="0" i="0" u="none" strike="noStrike" cap="none" dirty="0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Unzip Folder</a:t>
            </a:r>
            <a:endParaRPr sz="2400" b="0" i="0" u="none" strike="noStrike" cap="none" dirty="0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43000" marR="0" lvl="2" indent="-2286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404040"/>
              </a:buClr>
              <a:buSzPts val="2400"/>
              <a:buFont typeface="Arial"/>
              <a:buChar char="•"/>
            </a:pPr>
            <a:r>
              <a:rPr lang="en-US" sz="2400" b="0" i="0" u="none" strike="noStrike" cap="none" dirty="0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Open HW1.Rmd in R Studio</a:t>
            </a:r>
            <a:endParaRPr dirty="0"/>
          </a:p>
          <a:p>
            <a:pPr marL="1143000" marR="0" lvl="2" indent="-2286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404040"/>
              </a:buClr>
              <a:buSzPts val="2400"/>
              <a:buFont typeface="Arial"/>
              <a:buChar char="•"/>
            </a:pPr>
            <a:r>
              <a:rPr lang="en-US" sz="2400" b="0" i="0" u="none" strike="noStrike" cap="none" dirty="0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Attempt to Knit the File to an HTML File and View</a:t>
            </a:r>
            <a:endParaRPr dirty="0"/>
          </a:p>
          <a:p>
            <a:pPr marL="1143000" marR="0" lvl="2" indent="-22860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404040"/>
              </a:buClr>
              <a:buSzPts val="2400"/>
              <a:buFont typeface="Arial"/>
              <a:buChar char="•"/>
            </a:pPr>
            <a:r>
              <a:rPr lang="en-US" sz="2400" b="0" i="0" u="none" strike="noStrike" cap="none" dirty="0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Read Book and Finish </a:t>
            </a:r>
            <a:r>
              <a:rPr lang="en-US" sz="2400" dirty="0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HW</a:t>
            </a:r>
            <a:r>
              <a:rPr lang="en-US" sz="2400" b="0" i="0" u="none" strike="noStrike" cap="none" dirty="0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2400" b="0" i="0" u="none" strike="noStrike" cap="none" dirty="0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01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sz="2000" b="0" i="0" u="none" strike="noStrike" cap="none" dirty="0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27000" algn="l" rtl="0">
              <a:lnSpc>
                <a:spcPct val="9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1600" b="0" i="0" u="none" strike="noStrike" cap="none" dirty="0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01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sz="2000" b="0" i="0" u="none" strike="noStrike" cap="none" dirty="0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27000" algn="l" rtl="0">
              <a:lnSpc>
                <a:spcPct val="9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1600" b="0" i="0" u="none" strike="noStrike" cap="none" dirty="0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01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sz="2000" b="0" i="0" u="none" strike="noStrike" cap="none" dirty="0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8D8D8"/>
        </a:solidFill>
        <a:effectLst/>
      </p:bgPr>
    </p:bg>
    <p:spTree>
      <p:nvGrpSpPr>
        <p:cNvPr id="1" name="Shape 248">
          <a:extLst>
            <a:ext uri="{FF2B5EF4-FFF2-40B4-BE49-F238E27FC236}">
              <a16:creationId xmlns:a16="http://schemas.microsoft.com/office/drawing/2014/main" id="{9580082D-91B1-B719-2D51-C4A2C6D19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9">
            <a:extLst>
              <a:ext uri="{FF2B5EF4-FFF2-40B4-BE49-F238E27FC236}">
                <a16:creationId xmlns:a16="http://schemas.microsoft.com/office/drawing/2014/main" id="{0F10C22F-9E7E-76B9-1380-5B112826447E}"/>
              </a:ext>
            </a:extLst>
          </p:cNvPr>
          <p:cNvSpPr/>
          <p:nvPr/>
        </p:nvSpPr>
        <p:spPr>
          <a:xfrm>
            <a:off x="0" y="0"/>
            <a:ext cx="3490722" cy="68580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9">
            <a:extLst>
              <a:ext uri="{FF2B5EF4-FFF2-40B4-BE49-F238E27FC236}">
                <a16:creationId xmlns:a16="http://schemas.microsoft.com/office/drawing/2014/main" id="{E70147E8-7C49-1DA4-1A73-5ED9BFD2B6E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2600" y="643467"/>
            <a:ext cx="2522980" cy="1597315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What Should You Do Next</a:t>
            </a:r>
            <a:r>
              <a:rPr lang="en-US" sz="2400" dirty="0">
                <a:solidFill>
                  <a:schemeClr val="lt1"/>
                </a:solidFill>
              </a:rPr>
              <a:t>?</a:t>
            </a:r>
            <a:endParaRPr sz="24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1" name="Google Shape;251;p9">
            <a:extLst>
              <a:ext uri="{FF2B5EF4-FFF2-40B4-BE49-F238E27FC236}">
                <a16:creationId xmlns:a16="http://schemas.microsoft.com/office/drawing/2014/main" id="{08C23C78-54D1-3027-39A0-FFCCFCA36C1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8000" r="9399"/>
          <a:stretch/>
        </p:blipFill>
        <p:spPr>
          <a:xfrm>
            <a:off x="660103" y="3048000"/>
            <a:ext cx="2167974" cy="2624666"/>
          </a:xfrm>
          <a:prstGeom prst="rect">
            <a:avLst/>
          </a:prstGeom>
          <a:noFill/>
          <a:ln>
            <a:noFill/>
          </a:ln>
        </p:spPr>
      </p:pic>
      <p:sp>
        <p:nvSpPr>
          <p:cNvPr id="253" name="Google Shape;253;p9">
            <a:extLst>
              <a:ext uri="{FF2B5EF4-FFF2-40B4-BE49-F238E27FC236}">
                <a16:creationId xmlns:a16="http://schemas.microsoft.com/office/drawing/2014/main" id="{38C92FF5-BC18-1541-E42A-D6A03E4C61C4}"/>
              </a:ext>
            </a:extLst>
          </p:cNvPr>
          <p:cNvSpPr txBox="1"/>
          <p:nvPr/>
        </p:nvSpPr>
        <p:spPr>
          <a:xfrm>
            <a:off x="3962400" y="675484"/>
            <a:ext cx="5105400" cy="59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7" indent="-342900">
              <a:lnSpc>
                <a:spcPct val="90000"/>
              </a:lnSpc>
              <a:buClr>
                <a:srgbClr val="404040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Go to Canvas</a:t>
            </a:r>
          </a:p>
          <a:p>
            <a:pPr marL="457200" lvl="7" indent="-342900">
              <a:lnSpc>
                <a:spcPct val="90000"/>
              </a:lnSpc>
              <a:buClr>
                <a:srgbClr val="404040"/>
              </a:buClr>
              <a:buSzPts val="2400"/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7" indent="-342900">
              <a:lnSpc>
                <a:spcPct val="90000"/>
              </a:lnSpc>
              <a:buClr>
                <a:srgbClr val="404040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Explore Course Website</a:t>
            </a:r>
          </a:p>
          <a:p>
            <a:pPr marL="457200" lvl="8" indent="-342900">
              <a:lnSpc>
                <a:spcPct val="90000"/>
              </a:lnSpc>
              <a:buClr>
                <a:srgbClr val="404040"/>
              </a:buClr>
              <a:buSzPts val="2400"/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8" indent="-342900">
              <a:lnSpc>
                <a:spcPct val="90000"/>
              </a:lnSpc>
              <a:buClr>
                <a:srgbClr val="404040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Read Syllabus</a:t>
            </a:r>
            <a:br>
              <a:rPr lang="en-US" sz="2400" dirty="0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US" sz="2400" b="0" i="0" u="none" strike="noStrike" cap="none" dirty="0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2400"/>
              <a:buFont typeface="Arial"/>
              <a:buChar char="•"/>
            </a:pPr>
            <a:endParaRPr sz="2400" b="0" i="0" u="none" strike="noStrike" cap="none" dirty="0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01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sz="2000" b="0" i="0" u="none" strike="noStrike" cap="none" dirty="0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27000" algn="l" rtl="0">
              <a:lnSpc>
                <a:spcPct val="9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1600" b="0" i="0" u="none" strike="noStrike" cap="none" dirty="0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01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sz="2000" b="0" i="0" u="none" strike="noStrike" cap="none" dirty="0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27000" algn="l" rtl="0">
              <a:lnSpc>
                <a:spcPct val="9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1600" b="0" i="0" u="none" strike="noStrike" cap="none" dirty="0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01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sz="2000" b="0" i="0" u="none" strike="noStrike" cap="none" dirty="0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853841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8D8D8"/>
        </a:solidFill>
        <a:effectLst/>
      </p:bgPr>
    </p:bg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0"/>
          <p:cNvSpPr/>
          <p:nvPr/>
        </p:nvSpPr>
        <p:spPr>
          <a:xfrm>
            <a:off x="0" y="0"/>
            <a:ext cx="3490722" cy="68580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10"/>
          <p:cNvSpPr txBox="1">
            <a:spLocks noGrp="1"/>
          </p:cNvSpPr>
          <p:nvPr>
            <p:ph type="title"/>
          </p:nvPr>
        </p:nvSpPr>
        <p:spPr>
          <a:xfrm>
            <a:off x="482600" y="643467"/>
            <a:ext cx="2522980" cy="1597315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Closing</a:t>
            </a:r>
            <a:endParaRPr sz="24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0" name="Google Shape;260;p10"/>
          <p:cNvPicPr preferRelativeResize="0"/>
          <p:nvPr/>
        </p:nvPicPr>
        <p:blipFill rotWithShape="1">
          <a:blip r:embed="rId3">
            <a:alphaModFix/>
          </a:blip>
          <a:srcRect l="8000" r="9399"/>
          <a:stretch/>
        </p:blipFill>
        <p:spPr>
          <a:xfrm>
            <a:off x="660103" y="3048000"/>
            <a:ext cx="2167974" cy="2624666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10"/>
          <p:cNvSpPr txBox="1"/>
          <p:nvPr/>
        </p:nvSpPr>
        <p:spPr>
          <a:xfrm>
            <a:off x="3810000" y="643466"/>
            <a:ext cx="4851400" cy="5833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101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sz="2000" b="0" i="0" u="none" strike="noStrike" cap="non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01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sz="2000" b="0" i="0" u="none" strike="noStrike" cap="non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0"/>
          <p:cNvSpPr txBox="1"/>
          <p:nvPr/>
        </p:nvSpPr>
        <p:spPr>
          <a:xfrm>
            <a:off x="3973322" y="643466"/>
            <a:ext cx="4851400" cy="59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7200"/>
              <a:buFont typeface="Arial"/>
              <a:buNone/>
            </a:pPr>
            <a:r>
              <a:rPr lang="en-US" sz="7200" b="0" i="0" u="none" strike="noStrike" cap="non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Disperse and Make Reasonable Decisions</a:t>
            </a:r>
            <a:endParaRPr/>
          </a:p>
          <a:p>
            <a:pPr marL="342900" marR="0" lvl="0" indent="0" algn="l" rtl="0">
              <a:lnSpc>
                <a:spcPct val="90000"/>
              </a:lnSpc>
              <a:spcBef>
                <a:spcPts val="1440"/>
              </a:spcBef>
              <a:spcAft>
                <a:spcPts val="0"/>
              </a:spcAft>
              <a:buClr>
                <a:schemeClr val="dk1"/>
              </a:buClr>
              <a:buSzPts val="7200"/>
              <a:buFont typeface="Arial"/>
              <a:buNone/>
            </a:pPr>
            <a:endParaRPr sz="7200" b="0" i="0" u="none" strike="noStrike" cap="non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0" algn="l" rtl="0">
              <a:lnSpc>
                <a:spcPct val="90000"/>
              </a:lnSpc>
              <a:spcBef>
                <a:spcPts val="1440"/>
              </a:spcBef>
              <a:spcAft>
                <a:spcPts val="0"/>
              </a:spcAft>
              <a:buClr>
                <a:schemeClr val="dk1"/>
              </a:buClr>
              <a:buSzPts val="7200"/>
              <a:buFont typeface="Arial"/>
              <a:buNone/>
            </a:pPr>
            <a:endParaRPr sz="7200" b="0" i="0" u="none" strike="noStrike" cap="non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0" algn="l" rtl="0">
              <a:lnSpc>
                <a:spcPct val="90000"/>
              </a:lnSpc>
              <a:spcBef>
                <a:spcPts val="1440"/>
              </a:spcBef>
              <a:spcAft>
                <a:spcPts val="0"/>
              </a:spcAft>
              <a:buClr>
                <a:schemeClr val="dk1"/>
              </a:buClr>
              <a:buSzPts val="7200"/>
              <a:buFont typeface="Arial"/>
              <a:buNone/>
            </a:pPr>
            <a:endParaRPr sz="7200" b="0" i="0" u="none" strike="noStrike" cap="non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0" algn="l" rtl="0">
              <a:lnSpc>
                <a:spcPct val="90000"/>
              </a:lnSpc>
              <a:spcBef>
                <a:spcPts val="1440"/>
              </a:spcBef>
              <a:spcAft>
                <a:spcPts val="0"/>
              </a:spcAft>
              <a:buClr>
                <a:schemeClr val="dk1"/>
              </a:buClr>
              <a:buSzPts val="7200"/>
              <a:buFont typeface="Arial"/>
              <a:buNone/>
            </a:pPr>
            <a:endParaRPr sz="7200" b="0" i="0" u="none" strike="noStrike" cap="non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236</Words>
  <Application>Microsoft Office PowerPoint</Application>
  <PresentationFormat>On-screen Show (4:3)</PresentationFormat>
  <Paragraphs>84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1_Office Theme</vt:lpstr>
      <vt:lpstr>Office Theme</vt:lpstr>
      <vt:lpstr>1_Office Theme</vt:lpstr>
      <vt:lpstr>Welcome to the Show</vt:lpstr>
      <vt:lpstr>Who Am I?</vt:lpstr>
      <vt:lpstr>Why Are We Here?</vt:lpstr>
      <vt:lpstr>What Will We Do?</vt:lpstr>
      <vt:lpstr>What is Needed?</vt:lpstr>
      <vt:lpstr>What Will We Do?</vt:lpstr>
      <vt:lpstr>What Should You Do Next?</vt:lpstr>
      <vt:lpstr>What Should You Do Next?</vt:lpstr>
      <vt:lpstr>What Should You Do Next?</vt:lpstr>
      <vt:lpstr>Closing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the Show</dc:title>
  <dc:creator>Super Mario</dc:creator>
  <cp:lastModifiedBy>Giacomazzo, Mario Sy John</cp:lastModifiedBy>
  <cp:revision>18</cp:revision>
  <dcterms:created xsi:type="dcterms:W3CDTF">2018-08-19T01:44:24Z</dcterms:created>
  <dcterms:modified xsi:type="dcterms:W3CDTF">2026-01-06T21:47:38Z</dcterms:modified>
</cp:coreProperties>
</file>