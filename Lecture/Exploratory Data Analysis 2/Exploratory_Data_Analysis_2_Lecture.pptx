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omments/comment1.xml" ContentType="application/vnd.openxmlformats-officedocument.presentationml.comments+xml"/>
  <Override PartName="/ppt/tags/tag4.xml" ContentType="application/vnd.openxmlformats-officedocument.presentationml.tags+xml"/>
  <Override PartName="/ppt/comments/comment2.xml" ContentType="application/vnd.openxmlformats-officedocument.presentationml.comments+xml"/>
  <Override PartName="/ppt/tags/tag5.xml" ContentType="application/vnd.openxmlformats-officedocument.presentationml.tags+xml"/>
  <Override PartName="/ppt/comments/comment3.xml" ContentType="application/vnd.openxmlformats-officedocument.presentationml.comments+xml"/>
  <Override PartName="/ppt/tags/tag6.xml" ContentType="application/vnd.openxmlformats-officedocument.presentationml.tags+xml"/>
  <Override PartName="/ppt/comments/comment4.xml" ContentType="application/vnd.openxmlformats-officedocument.presentationml.comments+xml"/>
  <Override PartName="/ppt/tags/tag7.xml" ContentType="application/vnd.openxmlformats-officedocument.presentationml.tags+xml"/>
  <Override PartName="/ppt/comments/comment5.xml" ContentType="application/vnd.openxmlformats-officedocument.presentationml.comment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6" r:id="rId2"/>
  </p:sldMasterIdLst>
  <p:notesMasterIdLst>
    <p:notesMasterId r:id="rId16"/>
  </p:notesMasterIdLst>
  <p:handoutMasterIdLst>
    <p:handoutMasterId r:id="rId17"/>
  </p:handoutMasterIdLst>
  <p:sldIdLst>
    <p:sldId id="320" r:id="rId3"/>
    <p:sldId id="340" r:id="rId4"/>
    <p:sldId id="342" r:id="rId5"/>
    <p:sldId id="341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29" r:id="rId15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 Mario" initials="SM" lastIdx="1" clrIdx="0">
    <p:extLst>
      <p:ext uri="{19B8F6BF-5375-455C-9EA6-DF929625EA0E}">
        <p15:presenceInfo xmlns:p15="http://schemas.microsoft.com/office/powerpoint/2012/main" userId="00ac6b54767003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5D5D5"/>
    <a:srgbClr val="0D16FF"/>
    <a:srgbClr val="3AD24F"/>
    <a:srgbClr val="13C33A"/>
    <a:srgbClr val="19FF4C"/>
    <a:srgbClr val="38F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5" autoAdjust="0"/>
    <p:restoredTop sz="86050" autoAdjust="0"/>
  </p:normalViewPr>
  <p:slideViewPr>
    <p:cSldViewPr snapToObjects="1" showGuides="1">
      <p:cViewPr varScale="1">
        <p:scale>
          <a:sx n="110" d="100"/>
          <a:sy n="110" d="100"/>
        </p:scale>
        <p:origin x="1144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92" d="100"/>
          <a:sy n="92" d="100"/>
        </p:scale>
        <p:origin x="-2816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9-08T19:07:18.09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9-08T19:07:18.09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9-08T19:07:18.09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9-08T19:07:18.09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9-08T19:07:18.09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fld id="{4DC0810E-0BCD-E64E-A6C5-A30C40CB909A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fld id="{6C513ED8-42D2-F348-B32E-1E08EBA32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1247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7809FE7-6137-DD41-9F63-40D3C06ED648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AE6B6CE-84D6-AA47-BFFB-BF474964AB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481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ＭＳ Ｐゴシック" pitchFamily="-109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13CC5-C68A-D74B-A47D-B9037181BEC9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8F3E4-3DB0-5047-AB48-1D5F1631E4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3E592-D73B-7343-8A1E-FE6AD8BEBEE8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AB429-E672-2348-96E1-F99DED5A2D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8C52B-75DB-C845-98D6-1D91F0432241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90C78-774D-A448-9CD6-E87CE01FB9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65769-1047-F043-A732-F76CF8702E52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45253-104A-8C42-841C-FEBF47550E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1D10B-9681-184A-B930-F7E726872DAB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2C4B7-EC72-474E-B2D2-30F256FED9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1159-0D6B-5A45-8904-F5BB575CC3A6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DE3E5-C929-4D45-84A9-22CC1D7D96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ED8E9-45AB-6C47-BE07-8DD95E4C162D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6BF1F-8134-114A-AE10-A0DFD47C60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0C417-6796-A846-AC3F-1F2D307BA97F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F53C2-729B-8A45-A995-71DD2B6299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04199-E0BB-4842-9AE2-F11D6338C987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12F95-C4ED-2040-B605-125F58CAFD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80481-5049-3348-8BDE-6ED73D1FFD05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C3CAE-C8EC-A34C-8BA7-45B57A12C4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CAD31-5B17-5C45-A5AD-4FD14EF5A831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7433E-4536-374D-BC3B-87E876FD31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3718B-777D-3D49-8591-E15752B30C9B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CA1D4-DED4-C24E-9239-0981CC259A3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F0E25-14E9-3041-AABD-4AD753BE981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8FFF4-9554-9D4C-8544-C56B1E15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D78A4-1BF3-644A-BCC9-870456753CB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F8573-3A94-C640-82E3-0A68A10CBA5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A90D8-37E1-7D4F-A913-5D684E3B2203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C1F8E-7437-2D45-AB94-BC4774DE8AF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88A71A-9C18-204E-89B3-A2A7BEF2709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A8E0A-5268-7945-96F0-10C72FB475C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34264-80C5-2347-94EB-D08868091D86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124C-9E6E-A840-A398-0EBF678BE6E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5D21C-76EC-3143-A0E3-D217595E645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462B1-5E98-5B41-AF3E-183D007741A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94C69-3431-3744-B9F0-0C18A34C493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BAECD-5DE2-814C-96EC-6CBF8A704F1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33788-D06F-A240-B2CE-598172C68CF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AE33F-BFCA-0D4F-9457-B619F7E8E5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0E7D3-3157-F44B-B819-FC74C0E64B2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0ECE4-9006-1A48-9695-EE9577348B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ADC43-0A38-3B40-BED0-7931431BE31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800A6-94C8-E842-9F03-F7B8ED0EE54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681E2-C982-6049-A6B0-EBCB7C8A415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6F3244-B020-D740-BDC0-1920EF2D9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843ABE-1594-B94D-B6C2-914F442E898B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A16E443-7C6A-2743-BE4A-D83FE49486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5681E2-C982-6049-A6B0-EBCB7C8A415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08" charset="0"/>
              </a:defRPr>
            </a:lvl1pPr>
          </a:lstStyle>
          <a:p>
            <a:r>
              <a:rPr lang="en-US" dirty="0">
                <a:ea typeface="ＭＳ Ｐゴシック" pitchFamily="-108" charset="-128"/>
              </a:rPr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6F3244-B020-D740-BDC0-1920EF2D9A8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–"/>
        <a:defRPr sz="28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•"/>
        <a:defRPr sz="24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–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»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comments" Target="../comments/commen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comments" Target="../comments/commen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comments" Target="../comments/commen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6894" y="3200400"/>
            <a:ext cx="5334000" cy="162507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6000" i="1" dirty="0">
                <a:ea typeface="+mj-ea"/>
                <a:cs typeface="+mj-cs"/>
              </a:rPr>
              <a:t>Exploratory </a:t>
            </a:r>
            <a:br>
              <a:rPr lang="en-US" sz="6000" i="1" dirty="0">
                <a:ea typeface="+mj-ea"/>
                <a:cs typeface="+mj-cs"/>
              </a:rPr>
            </a:br>
            <a:r>
              <a:rPr lang="en-US" sz="6000" i="1" dirty="0">
                <a:ea typeface="+mj-ea"/>
                <a:cs typeface="+mj-cs"/>
              </a:rPr>
              <a:t>Data Analysis II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72BE4-3B90-4DF9-9AF7-43E0A7B66E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60" r="17759"/>
          <a:stretch/>
        </p:blipFill>
        <p:spPr>
          <a:xfrm>
            <a:off x="20" y="10"/>
            <a:ext cx="4518095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custDataLst>
      <p:tags r:id="rId1"/>
    </p:custData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09A012-7651-4985-AA1B-FD88922E9EE4}"/>
              </a:ext>
            </a:extLst>
          </p:cNvPr>
          <p:cNvSpPr txBox="1"/>
          <p:nvPr/>
        </p:nvSpPr>
        <p:spPr>
          <a:xfrm>
            <a:off x="4129278" y="548634"/>
            <a:ext cx="4953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Remember the Process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Be the Process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230E8AD-8F76-43F6-9DA5-66E3A07E28BE}"/>
              </a:ext>
            </a:extLst>
          </p:cNvPr>
          <p:cNvSpPr/>
          <p:nvPr/>
        </p:nvSpPr>
        <p:spPr>
          <a:xfrm rot="5400000">
            <a:off x="6176101" y="3887888"/>
            <a:ext cx="297878" cy="425896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EDA Defined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94772A7-1D05-4306-8931-A8EDDE97EF1C}"/>
              </a:ext>
            </a:extLst>
          </p:cNvPr>
          <p:cNvSpPr/>
          <p:nvPr/>
        </p:nvSpPr>
        <p:spPr>
          <a:xfrm>
            <a:off x="6159727" y="2062147"/>
            <a:ext cx="508214" cy="312130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2993A-DD69-4D89-B961-1E79B6B2D066}"/>
              </a:ext>
            </a:extLst>
          </p:cNvPr>
          <p:cNvSpPr txBox="1"/>
          <p:nvPr/>
        </p:nvSpPr>
        <p:spPr>
          <a:xfrm>
            <a:off x="5905941" y="1143000"/>
            <a:ext cx="838200" cy="461665"/>
          </a:xfrm>
          <a:prstGeom prst="rect">
            <a:avLst/>
          </a:prstGeom>
          <a:solidFill>
            <a:srgbClr val="40404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DDE778-2871-4CD6-A2F3-24F7D09262F5}"/>
              </a:ext>
            </a:extLst>
          </p:cNvPr>
          <p:cNvSpPr txBox="1"/>
          <p:nvPr/>
        </p:nvSpPr>
        <p:spPr>
          <a:xfrm>
            <a:off x="6744141" y="1839539"/>
            <a:ext cx="1790700" cy="830997"/>
          </a:xfrm>
          <a:prstGeom prst="rect">
            <a:avLst/>
          </a:prstGeom>
          <a:solidFill>
            <a:srgbClr val="40404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Visualize Summarize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A7C38-2DC0-4DA9-AF0A-97B393E48E37}"/>
              </a:ext>
            </a:extLst>
          </p:cNvPr>
          <p:cNvSpPr txBox="1"/>
          <p:nvPr/>
        </p:nvSpPr>
        <p:spPr>
          <a:xfrm>
            <a:off x="4115241" y="1838432"/>
            <a:ext cx="1790700" cy="832104"/>
          </a:xfrm>
          <a:prstGeom prst="rect">
            <a:avLst/>
          </a:prstGeom>
          <a:solidFill>
            <a:srgbClr val="40404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Question</a:t>
            </a: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28534295-256D-4E22-87AD-09F57304AADB}"/>
              </a:ext>
            </a:extLst>
          </p:cNvPr>
          <p:cNvSpPr/>
          <p:nvPr/>
        </p:nvSpPr>
        <p:spPr>
          <a:xfrm rot="16200000" flipH="1">
            <a:off x="5169106" y="1120067"/>
            <a:ext cx="368640" cy="876170"/>
          </a:xfrm>
          <a:prstGeom prst="ben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5FC01B8-E5FF-44C4-BAA1-386B2373D5D8}"/>
              </a:ext>
            </a:extLst>
          </p:cNvPr>
          <p:cNvSpPr/>
          <p:nvPr/>
        </p:nvSpPr>
        <p:spPr>
          <a:xfrm rot="10800000">
            <a:off x="5982141" y="2062144"/>
            <a:ext cx="508214" cy="312130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3949D8AA-764D-42A2-ACF7-E39CAD2E7A84}"/>
              </a:ext>
            </a:extLst>
          </p:cNvPr>
          <p:cNvSpPr/>
          <p:nvPr/>
        </p:nvSpPr>
        <p:spPr>
          <a:xfrm rot="5400000">
            <a:off x="7112336" y="1099697"/>
            <a:ext cx="368640" cy="876170"/>
          </a:xfrm>
          <a:prstGeom prst="ben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E1A448E-894D-4B7E-B4D5-73C1DF144736}"/>
              </a:ext>
            </a:extLst>
          </p:cNvPr>
          <p:cNvSpPr/>
          <p:nvPr/>
        </p:nvSpPr>
        <p:spPr>
          <a:xfrm rot="5400000">
            <a:off x="5831710" y="2574790"/>
            <a:ext cx="986660" cy="425896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8A4343-3A50-4EF3-BE1D-E43A0F9192A7}"/>
              </a:ext>
            </a:extLst>
          </p:cNvPr>
          <p:cNvSpPr txBox="1"/>
          <p:nvPr/>
        </p:nvSpPr>
        <p:spPr>
          <a:xfrm>
            <a:off x="5786061" y="3386741"/>
            <a:ext cx="1077961" cy="461665"/>
          </a:xfrm>
          <a:prstGeom prst="rect">
            <a:avLst/>
          </a:prstGeom>
          <a:solidFill>
            <a:srgbClr val="40404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F86A32-10CA-4F7C-AE6C-D82C5AC822E6}"/>
              </a:ext>
            </a:extLst>
          </p:cNvPr>
          <p:cNvSpPr txBox="1"/>
          <p:nvPr/>
        </p:nvSpPr>
        <p:spPr>
          <a:xfrm>
            <a:off x="5900490" y="4353266"/>
            <a:ext cx="838200" cy="461665"/>
          </a:xfrm>
          <a:prstGeom prst="rect">
            <a:avLst/>
          </a:prstGeom>
          <a:solidFill>
            <a:srgbClr val="40404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74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09A012-7651-4985-AA1B-FD88922E9EE4}"/>
              </a:ext>
            </a:extLst>
          </p:cNvPr>
          <p:cNvSpPr txBox="1"/>
          <p:nvPr/>
        </p:nvSpPr>
        <p:spPr>
          <a:xfrm>
            <a:off x="4129278" y="548634"/>
            <a:ext cx="4953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Goal of EDA = Identify Patterns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Ask Yourself: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Is it Coincidence?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How Strong is the Relationship?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What Variables May Be Confounding?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Do Subgroups Cause the Relationship to Change?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How Can You Model the Pattern?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EDA Purpose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105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09A012-7651-4985-AA1B-FD88922E9EE4}"/>
              </a:ext>
            </a:extLst>
          </p:cNvPr>
          <p:cNvSpPr txBox="1"/>
          <p:nvPr/>
        </p:nvSpPr>
        <p:spPr>
          <a:xfrm>
            <a:off x="4129278" y="548634"/>
            <a:ext cx="4953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“Be the change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4800" dirty="0">
                <a:solidFill>
                  <a:srgbClr val="404040"/>
                </a:solidFill>
              </a:rPr>
              <a:t>	that you want to 	see in the world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4800" dirty="0">
                <a:solidFill>
                  <a:srgbClr val="404040"/>
                </a:solidFill>
              </a:rPr>
              <a:t>	unless that 	change is 	statistically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4800" dirty="0">
                <a:solidFill>
                  <a:srgbClr val="404040"/>
                </a:solidFill>
              </a:rPr>
              <a:t>	insignificant.”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EDA Mantra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3C750E-B97D-4A56-8AA5-3763FEA71D87}"/>
              </a:ext>
            </a:extLst>
          </p:cNvPr>
          <p:cNvSpPr txBox="1"/>
          <p:nvPr/>
        </p:nvSpPr>
        <p:spPr>
          <a:xfrm>
            <a:off x="5943600" y="60198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</a:rPr>
              <a:t>- </a:t>
            </a:r>
            <a:r>
              <a:rPr lang="en-US" i="1" dirty="0">
                <a:solidFill>
                  <a:srgbClr val="404040"/>
                </a:solidFill>
              </a:rPr>
              <a:t>Mahatma Mario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358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09A012-7651-4985-AA1B-FD88922E9EE4}"/>
              </a:ext>
            </a:extLst>
          </p:cNvPr>
          <p:cNvSpPr txBox="1"/>
          <p:nvPr/>
        </p:nvSpPr>
        <p:spPr>
          <a:xfrm>
            <a:off x="4129278" y="548634"/>
            <a:ext cx="4953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What is the relationship between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the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size of the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and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the price of the                              ?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pic>
        <p:nvPicPr>
          <p:cNvPr id="1028" name="Picture 4" descr="Image result for diamond">
            <a:extLst>
              <a:ext uri="{FF2B5EF4-FFF2-40B4-BE49-F238E27FC236}">
                <a16:creationId xmlns:a16="http://schemas.microsoft.com/office/drawing/2014/main" id="{BD1DB048-61E9-44B3-9F6B-59F98CE8F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371600"/>
            <a:ext cx="280219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result for diamond">
            <a:extLst>
              <a:ext uri="{FF2B5EF4-FFF2-40B4-BE49-F238E27FC236}">
                <a16:creationId xmlns:a16="http://schemas.microsoft.com/office/drawing/2014/main" id="{63F80A21-5091-4E41-9DB9-44FD43297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86200"/>
            <a:ext cx="280219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044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Visualize</a:t>
            </a:r>
            <a:b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Summarize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51C709-67CE-49D1-904E-F861EC78F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423" y="2590800"/>
            <a:ext cx="5476826" cy="3314921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D69D64-2C8D-482F-95DC-B8DD08F30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423" y="762000"/>
            <a:ext cx="5485502" cy="1619250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119169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7F97F-1F61-491F-8564-FB9A6C5D43D4}"/>
              </a:ext>
            </a:extLst>
          </p:cNvPr>
          <p:cNvSpPr txBox="1"/>
          <p:nvPr/>
        </p:nvSpPr>
        <p:spPr>
          <a:xfrm>
            <a:off x="4129278" y="548634"/>
            <a:ext cx="501472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Refined Questions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Is the Observed Relationship Spurious?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Can I Represent the Relationship Using a Linear Model?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Should I Use an Exponential Model to Represent the Relationship?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Does Another Variable Exist to Explain the Drastic Change in Spread?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061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47568-C936-4732-9D61-ACED2155C221}"/>
              </a:ext>
            </a:extLst>
          </p:cNvPr>
          <p:cNvSpPr txBox="1"/>
          <p:nvPr/>
        </p:nvSpPr>
        <p:spPr>
          <a:xfrm>
            <a:off x="4129278" y="548634"/>
            <a:ext cx="5014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Linear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6168D-A83C-4F8D-9303-B3280A471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670" y="1124634"/>
            <a:ext cx="5408940" cy="3294966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197066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47568-C936-4732-9D61-ACED2155C221}"/>
              </a:ext>
            </a:extLst>
          </p:cNvPr>
          <p:cNvSpPr txBox="1"/>
          <p:nvPr/>
        </p:nvSpPr>
        <p:spPr>
          <a:xfrm>
            <a:off x="4129278" y="548634"/>
            <a:ext cx="5014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Linear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D5698-0273-4188-BD8C-4254CCBB6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810" y="1031445"/>
            <a:ext cx="5435025" cy="5291368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06302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47568-C936-4732-9D61-ACED2155C221}"/>
              </a:ext>
            </a:extLst>
          </p:cNvPr>
          <p:cNvSpPr txBox="1"/>
          <p:nvPr/>
        </p:nvSpPr>
        <p:spPr>
          <a:xfrm>
            <a:off x="4129278" y="548634"/>
            <a:ext cx="5014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Exponential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54702-040F-44FD-9A26-4DC32A0D1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363" y="1219200"/>
            <a:ext cx="5491437" cy="3362250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117654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47568-C936-4732-9D61-ACED2155C221}"/>
              </a:ext>
            </a:extLst>
          </p:cNvPr>
          <p:cNvSpPr txBox="1"/>
          <p:nvPr/>
        </p:nvSpPr>
        <p:spPr>
          <a:xfrm>
            <a:off x="4129278" y="548634"/>
            <a:ext cx="5014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Exponential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E78734-F629-4B23-B501-5BD8B26E1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725" y="1110593"/>
            <a:ext cx="5466699" cy="5148576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931837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47568-C936-4732-9D61-ACED2155C221}"/>
              </a:ext>
            </a:extLst>
          </p:cNvPr>
          <p:cNvSpPr txBox="1"/>
          <p:nvPr/>
        </p:nvSpPr>
        <p:spPr>
          <a:xfrm>
            <a:off x="4129278" y="548634"/>
            <a:ext cx="5014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Exponential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B0082-BD8C-485E-BB3A-AD1F33D66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789" y="1010299"/>
            <a:ext cx="5411082" cy="5662962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33866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Closing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E51533-15BE-453E-90FE-08298901BC34}"/>
              </a:ext>
            </a:extLst>
          </p:cNvPr>
          <p:cNvSpPr txBox="1">
            <a:spLocks/>
          </p:cNvSpPr>
          <p:nvPr/>
        </p:nvSpPr>
        <p:spPr bwMode="auto">
          <a:xfrm>
            <a:off x="3810000" y="643466"/>
            <a:ext cx="4851400" cy="5833533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04040"/>
              </a:solidFill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754C74-871F-42E2-A79F-10B9CCA16CD5}"/>
              </a:ext>
            </a:extLst>
          </p:cNvPr>
          <p:cNvSpPr txBox="1">
            <a:spLocks/>
          </p:cNvSpPr>
          <p:nvPr/>
        </p:nvSpPr>
        <p:spPr bwMode="auto">
          <a:xfrm>
            <a:off x="3973322" y="643466"/>
            <a:ext cx="4851400" cy="5953916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defTabSz="914400" eaLnBrk="1" hangingPunct="1">
              <a:lnSpc>
                <a:spcPct val="90000"/>
              </a:lnSpc>
              <a:buNone/>
            </a:pPr>
            <a:r>
              <a:rPr lang="en-US" sz="7200" dirty="0">
                <a:solidFill>
                  <a:srgbClr val="404040"/>
                </a:solidFill>
                <a:ea typeface="+mn-ea"/>
                <a:cs typeface="+mn-cs"/>
              </a:rPr>
              <a:t>Disperse and Make Reasonable Decisions</a:t>
            </a: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7066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ANDSHOWBAR" val="True"/>
  <p:tag name="BULLETTYPE" val="3"/>
  <p:tag name="RESPCOUNTERSTYLE" val="-1"/>
  <p:tag name="INPUTSOURCE" val="1"/>
  <p:tag name="BACKUPMAINTENANCE" val="7"/>
  <p:tag name="ROTATIONINTERVAL" val="2"/>
  <p:tag name="RACERSMAXDISPLAYED" val="5"/>
  <p:tag name="TEAMSINLEADERBOARD" val="5"/>
  <p:tag name="BUBBLEVALUEFORMAT" val="0.0"/>
  <p:tag name="CUSTOMCELLFORECOLOR" val="-16777216"/>
  <p:tag name="CUSTOMCELLBACKCOLOR4" val="-8355712"/>
  <p:tag name="DISPLAYDEVICEID" val="True"/>
  <p:tag name="GRIDSIZE" val="{Width=800, Height=600}"/>
  <p:tag name="CHARTLABELS" val="1"/>
  <p:tag name="PARTLISTDEFAULT" val="1"/>
  <p:tag name="INCORRECTPOINTVALUE" val="0"/>
  <p:tag name="AUTOADJUSTPARTRANGE" val="True"/>
  <p:tag name="FIBNUMRESULTS" val="5"/>
  <p:tag name="PRRESPONSE2" val="9"/>
  <p:tag name="PRRESPONSE6" val="5"/>
  <p:tag name="PRRESPONSE10" val="1"/>
  <p:tag name="POWERPOINTVERSION" val="12.0"/>
  <p:tag name="CSVFORMAT" val="0"/>
  <p:tag name="RESPCOUNTERFORMAT" val="0"/>
  <p:tag name="ALLOWDUPLICATES" val="False"/>
  <p:tag name="REVIEWONLY" val="False"/>
  <p:tag name="RACEANIMATIONSPEED" val="3"/>
  <p:tag name="BUBBLENAMEVISIBLE" val="True"/>
  <p:tag name="CUSTOMGRIDBACKCOLOR" val="-722948"/>
  <p:tag name="USESCHEMECOLORS" val="True"/>
  <p:tag name="GRIDROTATIONINTERVAL" val="2"/>
  <p:tag name="CHARTCOLORS" val="0"/>
  <p:tag name="INCLUDEPPT" val="True"/>
  <p:tag name="REALTIMEBACKUPPATH" val="(None)"/>
  <p:tag name="FIBDISPLAYRESULTS" val="True"/>
  <p:tag name="PRRESPONSE3" val="8"/>
  <p:tag name="PRRESPONSE8" val="3"/>
  <p:tag name="TPVERSION" val="2008"/>
  <p:tag name="ANSWERNOWSTYLE" val="-1"/>
  <p:tag name="COUNTDOWNSECONDS" val="10"/>
  <p:tag name="AUTOADVANCE" val="False"/>
  <p:tag name="SKIPREMAININGRACESLIDES" val="True"/>
  <p:tag name="BUBBLEGROUPING" val="3"/>
  <p:tag name="CUSTOMCELLBACKCOLOR3" val="-268652"/>
  <p:tag name="AUTOSIZEGRID" val="True"/>
  <p:tag name="INCLUDENONRESPONDERS" val="False"/>
  <p:tag name="REALTIMEBACKUP" val="False"/>
  <p:tag name="FIBINCLUDEOTHER" val="True"/>
  <p:tag name="PRRESPONSE5" val="6"/>
  <p:tag name="ALWAYSOPENPOLL" val="False"/>
  <p:tag name="ANSWERNOWTEXT" val="Answer Now"/>
  <p:tag name="BACKUPSESSIONS" val="True"/>
  <p:tag name="RACEENDPOINTS" val="100"/>
  <p:tag name="DEFAULTNUMTEAMS" val="5"/>
  <p:tag name="DISPLAYDEVICENUMBER" val="True"/>
  <p:tag name="RESETCHARTS" val="True"/>
  <p:tag name="ZEROBASED" val="False"/>
  <p:tag name="PRRESPONSE1" val="10"/>
  <p:tag name="SHOWFLASHWARNING" val="True"/>
  <p:tag name="COUNTDOWNSTYLE" val="-1"/>
  <p:tag name="AUTOUPDATEALIASES" val="True"/>
  <p:tag name="BUBBLESIZEVISIBLE" val="True"/>
  <p:tag name="GRIDOPACITY" val="90"/>
  <p:tag name="ALLOWUSERFEEDBACK" val="True"/>
  <p:tag name="FIBDISPLAYKEYWORDS" val="True"/>
  <p:tag name="SHOWBARVISIBLE" val="True"/>
  <p:tag name="NUMRESPONSES" val="1"/>
  <p:tag name="MAXRESPONDERS" val="5"/>
  <p:tag name="GRIDPOSITION" val="1"/>
  <p:tag name="CHARTSCALE" val="True"/>
  <p:tag name="PRRESPONSE9" val="2"/>
  <p:tag name="CHARTVALUEFORMAT" val="0%"/>
  <p:tag name="CUSTOMCELLBACKCOLOR2" val="-13395457"/>
  <p:tag name="CORRECTPOINTVALUE" val="1"/>
  <p:tag name="USESECONDARYMONITOR" val="True"/>
  <p:tag name="PARTICIPANTSINLEADERBOARD" val="5"/>
  <p:tag name="MULTIRESPDIVISOR" val="1"/>
  <p:tag name="SAVECSVWITHSESSION" val="False"/>
  <p:tag name="DISPLAYNAME" val="True"/>
  <p:tag name="PRRESPONSE7" val="4"/>
  <p:tag name="POLLINGCYCLE" val="2"/>
  <p:tag name="STDCHART" val="1"/>
  <p:tag name="RESPTABLESTYLE" val="-1"/>
  <p:tag name="CUSTOMCELLBACKCOLOR1" val="-657956"/>
  <p:tag name="PRRESPONSE4" val="7"/>
  <p:tag name="ADVANCEDSETTINGSVIEW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173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Office Theme</vt:lpstr>
      <vt:lpstr>1_Office Theme</vt:lpstr>
      <vt:lpstr>Exploratory  Data Analysis II</vt:lpstr>
      <vt:lpstr>EDA Defined</vt:lpstr>
      <vt:lpstr>EDA Purpose</vt:lpstr>
      <vt:lpstr>EDA Mantra</vt:lpstr>
      <vt:lpstr>Question</vt:lpstr>
      <vt:lpstr>Visualize Summarize</vt:lpstr>
      <vt:lpstr>Question</vt:lpstr>
      <vt:lpstr>Model</vt:lpstr>
      <vt:lpstr>Model</vt:lpstr>
      <vt:lpstr>Model</vt:lpstr>
      <vt:lpstr>Model</vt:lpstr>
      <vt:lpstr>Model</vt:lpstr>
      <vt:lpstr>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Show</dc:title>
  <dc:creator>Super Mario</dc:creator>
  <cp:lastModifiedBy>Giacomazzo, Mario Sy John</cp:lastModifiedBy>
  <cp:revision>169</cp:revision>
  <dcterms:created xsi:type="dcterms:W3CDTF">2018-08-19T01:44:24Z</dcterms:created>
  <dcterms:modified xsi:type="dcterms:W3CDTF">2026-01-30T13:59:42Z</dcterms:modified>
</cp:coreProperties>
</file>